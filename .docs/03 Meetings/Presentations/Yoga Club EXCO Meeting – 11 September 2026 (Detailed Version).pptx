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1fa6336b1c40fe" /><Relationship Type="http://schemas.openxmlformats.org/officeDocument/2006/relationships/extended-properties" Target="/docProps/app.xml" Id="R135201d790634991" /><Relationship Type="http://schemas.openxmlformats.org/officeDocument/2006/relationships/officeDocument" Target="/ppt/presentation.xml" Id="R8ee8597b735b4c41" /></Relationships>
</file>

<file path=ppt/presentation.xml><?xml version="1.0" encoding="utf-8"?>
<p:presentation xmlns:p="http://schemas.openxmlformats.org/presentationml/2006/main">
  <p:sldMasterIdLst>
    <p:sldMasterId xmlns:r="http://schemas.openxmlformats.org/officeDocument/2006/relationships" id="2147483648" r:id="Rf28209d539b64926"/>
  </p:sldMasterIdLst>
  <p:notesMasterIdLst>
    <p:notesMasterId xmlns:r="http://schemas.openxmlformats.org/officeDocument/2006/relationships" r:id="R4afee943b5d9483f"/>
  </p:notesMasterIdLst>
  <p:sldIdLst>
    <p:sldId xmlns:r="http://schemas.openxmlformats.org/officeDocument/2006/relationships" id="256" r:id="R5d6db26e68d3414b"/>
    <p:sldId xmlns:r="http://schemas.openxmlformats.org/officeDocument/2006/relationships" id="257" r:id="R87827a8bdfce4bf5"/>
    <p:sldId xmlns:r="http://schemas.openxmlformats.org/officeDocument/2006/relationships" id="258" r:id="R9ccd08f200474754"/>
    <p:sldId xmlns:r="http://schemas.openxmlformats.org/officeDocument/2006/relationships" id="259" r:id="R6c17e5306460457e"/>
    <p:sldId xmlns:r="http://schemas.openxmlformats.org/officeDocument/2006/relationships" id="260" r:id="R3f3842c4c7f94099"/>
    <p:sldId xmlns:r="http://schemas.openxmlformats.org/officeDocument/2006/relationships" id="261" r:id="R5e6e373f2dc2450b"/>
    <p:sldId xmlns:r="http://schemas.openxmlformats.org/officeDocument/2006/relationships" id="262" r:id="Rc1768ef6b9e146dc"/>
    <p:sldId xmlns:r="http://schemas.openxmlformats.org/officeDocument/2006/relationships" id="263" r:id="Rdc83d1e51cde4a42"/>
    <p:sldId xmlns:r="http://schemas.openxmlformats.org/officeDocument/2006/relationships" id="264" r:id="R2426fb1ab0ed4c45"/>
    <p:sldId xmlns:r="http://schemas.openxmlformats.org/officeDocument/2006/relationships" id="265" r:id="Raab01271b6d64e66"/>
    <p:sldId xmlns:r="http://schemas.openxmlformats.org/officeDocument/2006/relationships" id="266" r:id="R17fd7adbfb434ca3"/>
    <p:sldId xmlns:r="http://schemas.openxmlformats.org/officeDocument/2006/relationships" id="267" r:id="Rb3300afa5c934d3b"/>
    <p:sldId xmlns:r="http://schemas.openxmlformats.org/officeDocument/2006/relationships" id="268" r:id="R6fe23693f3994f24"/>
    <p:sldId xmlns:r="http://schemas.openxmlformats.org/officeDocument/2006/relationships" id="269" r:id="Rf938be7a03c34f67"/>
    <p:sldId xmlns:r="http://schemas.openxmlformats.org/officeDocument/2006/relationships" id="270" r:id="Rccd2a659ea86472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559d0367d74824" /><Relationship Type="http://schemas.openxmlformats.org/officeDocument/2006/relationships/slideMaster" Target="/ppt/slideMasters/slideMaster1.xml" Id="Rf28209d539b64926" /><Relationship Type="http://schemas.openxmlformats.org/officeDocument/2006/relationships/notesMaster" Target="/ppt/notesMasters/notesMaster1.xml" Id="R4afee943b5d9483f" /><Relationship Type="http://schemas.openxmlformats.org/officeDocument/2006/relationships/presProps" Target="/ppt/presProps.xml" Id="R2a41ee334c6b4b94" /><Relationship Type="http://schemas.openxmlformats.org/officeDocument/2006/relationships/tableStyles" Target="/ppt/tableStyles.xml" Id="Rca5e8b4032db4400" /><Relationship Type="http://schemas.openxmlformats.org/officeDocument/2006/relationships/slide" Target="/ppt/slides/slide1.xml" Id="R5d6db26e68d3414b" /><Relationship Type="http://schemas.openxmlformats.org/officeDocument/2006/relationships/slide" Target="/ppt/slides/slide2.xml" Id="R87827a8bdfce4bf5" /><Relationship Type="http://schemas.openxmlformats.org/officeDocument/2006/relationships/slide" Target="/ppt/slides/slide3.xml" Id="R9ccd08f200474754" /><Relationship Type="http://schemas.openxmlformats.org/officeDocument/2006/relationships/slide" Target="/ppt/slides/slide4.xml" Id="R6c17e5306460457e" /><Relationship Type="http://schemas.openxmlformats.org/officeDocument/2006/relationships/slide" Target="/ppt/slides/slide5.xml" Id="R3f3842c4c7f94099" /><Relationship Type="http://schemas.openxmlformats.org/officeDocument/2006/relationships/slide" Target="/ppt/slides/slide6.xml" Id="R5e6e373f2dc2450b" /><Relationship Type="http://schemas.openxmlformats.org/officeDocument/2006/relationships/slide" Target="/ppt/slides/slide7.xml" Id="Rc1768ef6b9e146dc" /><Relationship Type="http://schemas.openxmlformats.org/officeDocument/2006/relationships/slide" Target="/ppt/slides/slide8.xml" Id="Rdc83d1e51cde4a42" /><Relationship Type="http://schemas.openxmlformats.org/officeDocument/2006/relationships/slide" Target="/ppt/slides/slide9.xml" Id="R2426fb1ab0ed4c45" /><Relationship Type="http://schemas.openxmlformats.org/officeDocument/2006/relationships/slide" Target="/ppt/slides/slide10.xml" Id="Raab01271b6d64e66" /><Relationship Type="http://schemas.openxmlformats.org/officeDocument/2006/relationships/slide" Target="/ppt/slides/slide11.xml" Id="R17fd7adbfb434ca3" /><Relationship Type="http://schemas.openxmlformats.org/officeDocument/2006/relationships/slide" Target="/ppt/slides/slide12.xml" Id="Rb3300afa5c934d3b" /><Relationship Type="http://schemas.openxmlformats.org/officeDocument/2006/relationships/slide" Target="/ppt/slides/slide13.xml" Id="R6fe23693f3994f24" /><Relationship Type="http://schemas.openxmlformats.org/officeDocument/2006/relationships/slide" Target="/ppt/slides/slide14.xml" Id="Rf938be7a03c34f67" /><Relationship Type="http://schemas.openxmlformats.org/officeDocument/2006/relationships/slide" Target="/ppt/slides/slide15.xml" Id="Rccd2a659ea8647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9238ca8ca34c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UTAR Yoga Warm Neutral">
      <a:dk1>
        <a:srgbClr val="000000"/>
      </a:dk1>
      <a:lt1>
        <a:srgbClr val="FFFFFF"/>
      </a:lt1>
      <a:dk2>
        <a:srgbClr val="5B4F47"/>
      </a:dk2>
      <a:lt2>
        <a:srgbClr val="F4EBE4"/>
      </a:lt2>
      <a:accent1>
        <a:srgbClr val="5B4F47"/>
      </a:accent1>
      <a:accent2>
        <a:srgbClr val="BD9479"/>
      </a:accent2>
      <a:accent3>
        <a:srgbClr val="DDC1A7"/>
      </a:accent3>
      <a:accent4>
        <a:srgbClr val="D99D48"/>
      </a:accent4>
      <a:accent5>
        <a:srgbClr val="745E4D"/>
      </a:accent5>
      <a:accent6>
        <a:srgbClr val="F4EBE4"/>
      </a:accent6>
      <a:hlink>
        <a:srgbClr val="745E4D"/>
      </a:hlink>
      <a:folHlink>
        <a:srgbClr val="BD9479"/>
      </a:folHlink>
    </a:clrScheme>
    <a:fontScheme name="Office">
      <a:majorFont>
        <a:latin typeface="Calibri Light"/>
        <a:ea typeface="Calibri Light"/>
        <a:cs typeface="Calibri Light"/>
      </a:majorFont>
      <a:minorFont>
        <a:latin typeface="Calibri"/>
        <a:ea typeface="Calibri"/>
        <a:cs typeface="Calibri"/>
      </a:minorFont>
    </a:fontScheme>
    <a:fmtScheme name="UTAR Yoga Warm Neutr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67a32571824291" /><Relationship Type="http://schemas.openxmlformats.org/officeDocument/2006/relationships/notesMaster" Target="/ppt/notesMasters/notesMaster1.xml" Id="Rba632a09c85445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5f53db13064193" /><Relationship Type="http://schemas.openxmlformats.org/officeDocument/2006/relationships/notesMaster" Target="/ppt/notesMasters/notesMaster1.xml" Id="R1c2f9e13324645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a768386d3440ef" /><Relationship Type="http://schemas.openxmlformats.org/officeDocument/2006/relationships/notesMaster" Target="/ppt/notesMasters/notesMaster1.xml" Id="R5daacc77f4cc40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70cf12b8bb489f" /><Relationship Type="http://schemas.openxmlformats.org/officeDocument/2006/relationships/notesMaster" Target="/ppt/notesMasters/notesMaster1.xml" Id="R88caf59f1c4349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0a0aa087cf4f94" /><Relationship Type="http://schemas.openxmlformats.org/officeDocument/2006/relationships/notesMaster" Target="/ppt/notesMasters/notesMaster1.xml" Id="Rf43b34006c2941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b32a658e8f463b" /><Relationship Type="http://schemas.openxmlformats.org/officeDocument/2006/relationships/notesMaster" Target="/ppt/notesMasters/notesMaster1.xml" Id="R2967a79f4e5f42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00b692541a4c34" /><Relationship Type="http://schemas.openxmlformats.org/officeDocument/2006/relationships/notesMaster" Target="/ppt/notesMasters/notesMaster1.xml" Id="R28aa4b86d8984d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f87a7920f347e8" /><Relationship Type="http://schemas.openxmlformats.org/officeDocument/2006/relationships/notesMaster" Target="/ppt/notesMasters/notesMaster1.xml" Id="R49d3f6272b754c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5bc3d7c4294765" /><Relationship Type="http://schemas.openxmlformats.org/officeDocument/2006/relationships/notesMaster" Target="/ppt/notesMasters/notesMaster1.xml" Id="R8c9ec485c97e4b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95be20f48b41d1" /><Relationship Type="http://schemas.openxmlformats.org/officeDocument/2006/relationships/notesMaster" Target="/ppt/notesMasters/notesMaster1.xml" Id="Rf20d69f0080142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87c2bbd01b4eb1" /><Relationship Type="http://schemas.openxmlformats.org/officeDocument/2006/relationships/notesMaster" Target="/ppt/notesMasters/notesMaster1.xml" Id="R1708947b83d947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deb567e7404301" /><Relationship Type="http://schemas.openxmlformats.org/officeDocument/2006/relationships/notesMaster" Target="/ppt/notesMasters/notesMaster1.xml" Id="Refbd115161a04c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28e682e5b9471a" /><Relationship Type="http://schemas.openxmlformats.org/officeDocument/2006/relationships/notesMaster" Target="/ppt/notesMasters/notesMaster1.xml" Id="R90bd32284b3444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9c7f2573284515" /><Relationship Type="http://schemas.openxmlformats.org/officeDocument/2006/relationships/notesMaster" Target="/ppt/notesMasters/notesMaster1.xml" Id="R505bc7c3e79747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21db3ec283448d" /><Relationship Type="http://schemas.openxmlformats.org/officeDocument/2006/relationships/notesMaster" Target="/ppt/notesMasters/notesMaster1.xml" Id="R4193164ea3b341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meeting header.</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open the meeting, confirm attendance and establish the decision-making scope.</a:t>
            </a:r>
          </a:p>
          <a:p xmlns:a="http://schemas.openxmlformats.org/drawingml/2006/main">
            <a:r>
              <a:t/>
            </a:r>
          </a:p>
          <a:p xmlns:a="http://schemas.openxmlformats.org/drawingml/2006/main">
            <a:r>
              <a:t>Facilitator guidance: confirm whether the meeting has the required EXCO representation. State that this meeting covers programme planning, recruitment, governance, finance, certification, staffing and merchandise. Ask members to distinguish confirmed decisions from proposals requiring later approval.</a:t>
            </a:r>
          </a:p>
          <a:p xmlns:a="http://schemas.openxmlformats.org/drawingml/2006/main">
            <a:r>
              <a:t/>
            </a:r>
          </a:p>
          <a:p xmlns:a="http://schemas.openxmlformats.org/drawingml/2006/main">
            <a:r>
              <a:t>Record: attendance, apologies, meeting start time and any declared conflicts of interest.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overview of Items 1–12.</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align members on the decisions that must leave the meeting with a named owner and completion date.</a:t>
            </a:r>
          </a:p>
          <a:p xmlns:a="http://schemas.openxmlformats.org/drawingml/2006/main">
            <a:r>
              <a:t/>
            </a:r>
          </a:p>
          <a:p xmlns:a="http://schemas.openxmlformats.org/drawingml/2006/main">
            <a:r>
              <a:t>Discussion: confirm the activity portfolio first because proposals, publicity, budgets and recruitment depend on it. Resolve the October Recruitment Drive offer before publicity begins. Confirm which certification model requires further consultation. Treat merchandise and Members’ Night funding as conditional until the Treasurer completes the budget review.</a:t>
            </a:r>
          </a:p>
          <a:p xmlns:a="http://schemas.openxmlformats.org/drawingml/2006/main">
            <a:r>
              <a:t/>
            </a:r>
          </a:p>
          <a:p xmlns:a="http://schemas.openxmlformats.org/drawingml/2006/main">
            <a:r>
              <a:t>Decision required: agree the sequence of decisions and identify any item that cannot be concluded without Ms Belinda, Ms Heng, a Core Advisor or DSA approval.</a:t>
            </a:r>
          </a:p>
          <a:p xmlns:a="http://schemas.openxmlformats.org/drawingml/2006/main">
            <a:r>
              <a:t/>
            </a:r>
          </a:p>
          <a:p xmlns:a="http://schemas.openxmlformats.org/drawingml/2006/main">
            <a:r>
              <a:t>Record: decision, owner, due date, approval dependency and supporting document for every agenda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 1.</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define the next-semester activity portfolio and distinguish compulsory work from optional pilots.</a:t>
            </a:r>
          </a:p>
          <a:p xmlns:a="http://schemas.openxmlformats.org/drawingml/2006/main">
            <a:r>
              <a:t/>
            </a:r>
          </a:p>
          <a:p xmlns:a="http://schemas.openxmlformats.org/drawingml/2006/main">
            <a:r>
              <a:t>Compulsory activities: Recruitment Drive, weekly yoga classes and free yoga classes. For a long semester, consider six to eight practical sessions in addition to regular classes. These sessions may extend certification hours and create supervised training opportunities for student coaches. Use common student free hours when scheduling.</a:t>
            </a:r>
          </a:p>
          <a:p xmlns:a="http://schemas.openxmlformats.org/drawingml/2006/main">
            <a:r>
              <a:t/>
            </a:r>
          </a:p>
          <a:p xmlns:a="http://schemas.openxmlformats.org/drawingml/2006/main">
            <a:r>
              <a:t>Options: assess Members’ Night as a reward for regular attendance. Decide whether meditation runs once, twice or weekly and whether participants pay a fee. Decide whether Natural Yoga begins next semester or moves to February 2027.</a:t>
            </a:r>
          </a:p>
          <a:p xmlns:a="http://schemas.openxmlformats.org/drawingml/2006/main">
            <a:r>
              <a:t/>
            </a:r>
          </a:p>
          <a:p xmlns:a="http://schemas.openxmlformats.org/drawingml/2006/main">
            <a:r>
              <a:t>Decision required: approve the activity list, provisional frequency, semester timing and department responsible for developing each proposal.</a:t>
            </a:r>
          </a:p>
          <a:p xmlns:a="http://schemas.openxmlformats.org/drawingml/2006/main">
            <a:r>
              <a:t/>
            </a:r>
          </a:p>
          <a:p xmlns:a="http://schemas.openxmlformats.org/drawingml/2006/main">
            <a:r>
              <a:t>Record: confirmed activities, deferred activities, responsible department and proposal due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 2.</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agree the October Recruitment Drive offer and ensure publicity communicates only confirmed benefits.</a:t>
            </a:r>
          </a:p>
          <a:p xmlns:a="http://schemas.openxmlformats.org/drawingml/2006/main">
            <a:r>
              <a:t/>
            </a:r>
          </a:p>
          <a:p xmlns:a="http://schemas.openxmlformats.org/drawingml/2006/main">
            <a:r>
              <a:t>Promotion: merchandise, lucky draw opportunities and weekly-class certification. If Members’ Night proceeds, promote it after the October free class. Possible benefits include food, health-oriented gifts, participant feedback activities and information about upcoming classes.</a:t>
            </a:r>
          </a:p>
          <a:p xmlns:a="http://schemas.openxmlformats.org/drawingml/2006/main">
            <a:r>
              <a:t/>
            </a:r>
          </a:p>
          <a:p xmlns:a="http://schemas.openxmlformats.org/drawingml/2006/main">
            <a:r>
              <a:t>Participant offer: review whether first-time participants receive one free class. Consider a fee waiver for members who bring new participants to selected classes. The Treasurer should confirm any cost or revenue effect before Publicity publishes the offer.</a:t>
            </a:r>
          </a:p>
          <a:p xmlns:a="http://schemas.openxmlformats.org/drawingml/2006/main">
            <a:r>
              <a:t/>
            </a:r>
          </a:p>
          <a:p xmlns:a="http://schemas.openxmlformats.org/drawingml/2006/main">
            <a:r>
              <a:t>Recruitment: include the vacant Vice Treasurer role in Recruitment Drive materials. Conduct a follow-up survey after the activity.</a:t>
            </a:r>
          </a:p>
          <a:p xmlns:a="http://schemas.openxmlformats.org/drawingml/2006/main">
            <a:r>
              <a:t/>
            </a:r>
          </a:p>
          <a:p xmlns:a="http://schemas.openxmlformats.org/drawingml/2006/main">
            <a:r>
              <a:t>Decision required: approve the offer, benefit wording, survey owner and Vice Treasurer recruitment 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 3; obvious source typo ‘Office Barriers’ normalised to ‘Office Bearers’.</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establish a complete and traceable secretarial control system for proposals and semester reports.</a:t>
            </a:r>
          </a:p>
          <a:p xmlns:a="http://schemas.openxmlformats.org/drawingml/2006/main">
            <a:r>
              <a:t/>
            </a:r>
          </a:p>
          <a:p xmlns:a="http://schemas.openxmlformats.org/drawingml/2006/main">
            <a:r>
              <a:t>Proposal standard: create one proposal for each activity where required. Each proposal should state objectives, programme details, schedule, venue, budget, publicity arrangements, registration process and required approvals. Submit the proposal before the event and within the institutional timeline.</a:t>
            </a:r>
          </a:p>
          <a:p xmlns:a="http://schemas.openxmlformats.org/drawingml/2006/main">
            <a:r>
              <a:t/>
            </a:r>
          </a:p>
          <a:p xmlns:a="http://schemas.openxmlformats.org/drawingml/2006/main">
            <a:r>
              <a:t>Reporting standard: complete reports by Week 14 for weekly classes, the Recruitment Drive, EXCO Meeting 1, EXCO Meeting 2, the free yoga class, Office Bearers and any other reportable activity or matter.</a:t>
            </a:r>
          </a:p>
          <a:p xmlns:a="http://schemas.openxmlformats.org/drawingml/2006/main">
            <a:r>
              <a:t/>
            </a:r>
          </a:p>
          <a:p xmlns:a="http://schemas.openxmlformats.org/drawingml/2006/main">
            <a:r>
              <a:t>Control mechanism: maintain a live checklist showing document status, owner, submission date and approval status. Record student coach service hours and attendance in a form that supports accountability and certificate issuance.</a:t>
            </a:r>
          </a:p>
          <a:p xmlns:a="http://schemas.openxmlformats.org/drawingml/2006/main">
            <a:r>
              <a:t/>
            </a:r>
          </a:p>
          <a:p xmlns:a="http://schemas.openxmlformats.org/drawingml/2006/main">
            <a:r>
              <a:t>Decision required: approve the checklist format, report ownership and review frequency.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 4.</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define how financial decisions move from the Treasurer into proposals, publicity and operational records.</a:t>
            </a:r>
          </a:p>
          <a:p xmlns:a="http://schemas.openxmlformats.org/drawingml/2006/main">
            <a:r>
              <a:t/>
            </a:r>
          </a:p>
          <a:p xmlns:a="http://schemas.openxmlformats.org/drawingml/2006/main">
            <a:r>
              <a:t>Treasury responsibilities: prepare event-specific policy and documentation, confirm prices or member benefits, retain receipts and supporting evidence, and maintain records for weekly classes and events.</a:t>
            </a:r>
          </a:p>
          <a:p xmlns:a="http://schemas.openxmlformats.org/drawingml/2006/main">
            <a:r>
              <a:t/>
            </a:r>
          </a:p>
          <a:p xmlns:a="http://schemas.openxmlformats.org/drawingml/2006/main">
            <a:r>
              <a:t>Information hand-off: once the Treasurer confirms the financial arrangement, the Secretary incorporates it into proposals and reports. Publicity then prepares the pricing announcement and payment instructions. Any subsequent change requires renewed verification before publication.</a:t>
            </a:r>
          </a:p>
          <a:p xmlns:a="http://schemas.openxmlformats.org/drawingml/2006/main">
            <a:r>
              <a:t/>
            </a:r>
          </a:p>
          <a:p xmlns:a="http://schemas.openxmlformats.org/drawingml/2006/main">
            <a:r>
              <a:t>Digital support: fee tracking and unified receipt uploading already exist as proposed website functions. Treat them as useful but not urgent unless current record-keeping creates material gaps.</a:t>
            </a:r>
          </a:p>
          <a:p xmlns:a="http://schemas.openxmlformats.org/drawingml/2006/main">
            <a:r>
              <a:t/>
            </a:r>
          </a:p>
          <a:p xmlns:a="http://schemas.openxmlformats.org/drawingml/2006/main">
            <a:r>
              <a:t>Decision required: confirm the minimum documents for each event and who verifies financial information before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 5.</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agree entry conditions, benefits and signing authority for the Student Instructor Programme.</a:t>
            </a:r>
          </a:p>
          <a:p xmlns:a="http://schemas.openxmlformats.org/drawingml/2006/main">
            <a:r>
              <a:t/>
            </a:r>
          </a:p>
          <a:p xmlns:a="http://schemas.openxmlformats.org/drawingml/2006/main">
            <a:r>
              <a:t>Eligibility: more than two semester-based Certificates of Completion, or one yearly Certificate of Completion if the club adopts the yearly model. Semester certificates apply only to long semesters of about fourteen weeks.</a:t>
            </a:r>
          </a:p>
          <a:p xmlns:a="http://schemas.openxmlformats.org/drawingml/2006/main">
            <a:r>
              <a:t/>
            </a:r>
          </a:p>
          <a:p xmlns:a="http://schemas.openxmlformats.org/drawingml/2006/main">
            <a:r>
              <a:t>Proposed benefit: consider a fee waiver for student instructors who maintain attendance above 80 per cent. The Treasurer should assess the financial effect and the committee should clarify whether the waiver applies prospectively or retrospectively.</a:t>
            </a:r>
          </a:p>
          <a:p xmlns:a="http://schemas.openxmlformats.org/drawingml/2006/main">
            <a:r>
              <a:t/>
            </a:r>
          </a:p>
          <a:p xmlns:a="http://schemas.openxmlformats.org/drawingml/2006/main">
            <a:r>
              <a:t>Signing authority: consider Ms Chew, the Club Auditor, the Club Chairperson, and Ms Belinda, Ms Heng or a Core Advisor. Confirm the required combination rather than assuming every person signs.</a:t>
            </a:r>
          </a:p>
          <a:p xmlns:a="http://schemas.openxmlformats.org/drawingml/2006/main">
            <a:r>
              <a:t/>
            </a:r>
          </a:p>
          <a:p xmlns:a="http://schemas.openxmlformats.org/drawingml/2006/main">
            <a:r>
              <a:t>Decision required: select the eligibility model, attendance evidence, benefit rule and authorised signatories.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 6.</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create a controlled publicity process that prevents unconfirmed information from reaching members.</a:t>
            </a:r>
          </a:p>
          <a:p xmlns:a="http://schemas.openxmlformats.org/drawingml/2006/main">
            <a:r>
              <a:t/>
            </a:r>
          </a:p>
          <a:p xmlns:a="http://schemas.openxmlformats.org/drawingml/2006/main">
            <a:r>
              <a:t>Scope: Recruitment Drive, free classes, weekly classes, Members’ Night, lucky draw activities, merchandise, meditation and other approved programmes.</a:t>
            </a:r>
          </a:p>
          <a:p xmlns:a="http://schemas.openxmlformats.org/drawingml/2006/main">
            <a:r>
              <a:t/>
            </a:r>
          </a:p>
          <a:p xmlns:a="http://schemas.openxmlformats.org/drawingml/2006/main">
            <a:r>
              <a:t>Verification: Publicity should confirm event dates, venues, prices, member benefits, registration links, payment instructions and certification requirements with the Secretary and Treasurer before release. When arrangements change, update every affected poster, caption, announcement and link.</a:t>
            </a:r>
          </a:p>
          <a:p xmlns:a="http://schemas.openxmlformats.org/drawingml/2006/main">
            <a:r>
              <a:t/>
            </a:r>
          </a:p>
          <a:p xmlns:a="http://schemas.openxmlformats.org/drawingml/2006/main">
            <a:r>
              <a:t>Records: retain the final published version and enough context to identify the event, publication date and approving source. Avoid keeping multiple files without a clear final status.</a:t>
            </a:r>
          </a:p>
          <a:p xmlns:a="http://schemas.openxmlformats.org/drawingml/2006/main">
            <a:r>
              <a:t/>
            </a:r>
          </a:p>
          <a:p xmlns:a="http://schemas.openxmlformats.org/drawingml/2006/main">
            <a:r>
              <a:t>Decision required: approve the verification route, publication authority and archive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 7.</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finalise a certification policy that the club can explain consistently and verify through attendance records.</a:t>
            </a:r>
          </a:p>
          <a:p xmlns:a="http://schemas.openxmlformats.org/drawingml/2006/main">
            <a:r>
              <a:t/>
            </a:r>
          </a:p>
          <a:p xmlns:a="http://schemas.openxmlformats.org/drawingml/2006/main">
            <a:r>
              <a:t>Semester model: at least 80 per cent attendance across approximately fourteen hours or fourteen class days during a long semester. Attendance from a short semester may accumulate towards the long-semester requirement.</a:t>
            </a:r>
          </a:p>
          <a:p xmlns:a="http://schemas.openxmlformats.org/drawingml/2006/main">
            <a:r>
              <a:t/>
            </a:r>
          </a:p>
          <a:p xmlns:a="http://schemas.openxmlformats.org/drawingml/2006/main">
            <a:r>
              <a:t>Yearly alternative: approximately thirty-five hours, thirty-five days or thirty-five yoga practice classes. The committee must choose one measurable unit and explain how mixed class durations count.</a:t>
            </a:r>
          </a:p>
          <a:p xmlns:a="http://schemas.openxmlformats.org/drawingml/2006/main">
            <a:r>
              <a:t/>
            </a:r>
          </a:p>
          <a:p xmlns:a="http://schemas.openxmlformats.org/drawingml/2006/main">
            <a:r>
              <a:t>Signatories and logos: consider Ms Chew, Student Coach HOD Ms Xinle, the Club Chairperson, and Ms Belinda, Ms Heng or a Core Advisor. Confirm whether Yoga Club, DSA and UTAR logos are permitted and whether separate approval applies to each.</a:t>
            </a:r>
          </a:p>
          <a:p xmlns:a="http://schemas.openxmlformats.org/drawingml/2006/main">
            <a:r>
              <a:t/>
            </a:r>
          </a:p>
          <a:p xmlns:a="http://schemas.openxmlformats.org/drawingml/2006/main">
            <a:r>
              <a:t>Decision required: select the certification model, measurement unit, evidence source, signatories and permitted logos.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 8.</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fill leadership and publicity capacity gaps before the next semester begins.</a:t>
            </a:r>
          </a:p>
          <a:p xmlns:a="http://schemas.openxmlformats.org/drawingml/2006/main">
            <a:r>
              <a:t/>
            </a:r>
          </a:p>
          <a:p xmlns:a="http://schemas.openxmlformats.org/drawingml/2006/main">
            <a:r>
              <a:t>Priority roles: recruit one additional Publicity team member and identify a suitable current committee member with a strong network for Vice Chairperson. The committee should also consider additional higher committee members where workload or succession risk justifies recruitment.</a:t>
            </a:r>
          </a:p>
          <a:p xmlns:a="http://schemas.openxmlformats.org/drawingml/2006/main">
            <a:r>
              <a:t/>
            </a:r>
          </a:p>
          <a:p xmlns:a="http://schemas.openxmlformats.org/drawingml/2006/main">
            <a:r>
              <a:t>Recruitment routes: committee referrals, direct invitations and EA appointments for experience-based roles connected with student instruction, committee participation, events or publicity support.</a:t>
            </a:r>
          </a:p>
          <a:p xmlns:a="http://schemas.openxmlformats.org/drawingml/2006/main">
            <a:r>
              <a:t/>
            </a:r>
          </a:p>
          <a:p xmlns:a="http://schemas.openxmlformats.org/drawingml/2006/main">
            <a:r>
              <a:t>Assessment: consider availability, reliability, role understanding, relevant experience and willingness to complete documentation. Personal networks may identify candidates, but the role requirements should govern selection.</a:t>
            </a:r>
          </a:p>
          <a:p xmlns:a="http://schemas.openxmlformats.org/drawingml/2006/main">
            <a:r>
              <a:t/>
            </a:r>
          </a:p>
          <a:p xmlns:a="http://schemas.openxmlformats.org/drawingml/2006/main">
            <a:r>
              <a:t>Decision required: confirm vacancies, selection criteria, recruiter and target completion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 9.</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reduce the merchandise list to a feasible shortlist before design and supplier work begins.</a:t>
            </a:r>
          </a:p>
          <a:p xmlns:a="http://schemas.openxmlformats.org/drawingml/2006/main">
            <a:r>
              <a:t/>
            </a:r>
          </a:p>
          <a:p xmlns:a="http://schemas.openxmlformats.org/drawingml/2006/main">
            <a:r>
              <a:t>Choices: higher-end items include a logo cape or cloak, yoga mat and yoga bricks. Middle-range items include a yoga brick, T-shirt, hat and stretching strap. Lower-cost options include a keychain, lanyard, rubber wristband and other suitable small items.</a:t>
            </a:r>
          </a:p>
          <a:p xmlns:a="http://schemas.openxmlformats.org/drawingml/2006/main">
            <a:r>
              <a:t/>
            </a:r>
          </a:p>
          <a:p xmlns:a="http://schemas.openxmlformats.org/drawingml/2006/main">
            <a:r>
              <a:t>Polling: every committee member should participate and select at least three preferred items from the limited choices. Record the number of votes rather than only the winning items.</a:t>
            </a:r>
          </a:p>
          <a:p xmlns:a="http://schemas.openxmlformats.org/drawingml/2006/main">
            <a:r>
              <a:t/>
            </a:r>
          </a:p>
          <a:p xmlns:a="http://schemas.openxmlformats.org/drawingml/2006/main">
            <a:r>
              <a:t>Dependencies: Publicity prepares designs, the Secretary includes selected merchandise in the proposal, and the Treasurer confirms supplier pricing, minimum order quantities and pre-funding requirements before commitment.</a:t>
            </a:r>
          </a:p>
          <a:p xmlns:a="http://schemas.openxmlformats.org/drawingml/2006/main">
            <a:r>
              <a:t/>
            </a:r>
          </a:p>
          <a:p xmlns:a="http://schemas.openxmlformats.org/drawingml/2006/main">
            <a:r>
              <a:t>Decision required: agree the polling deadline, shortlist size and budget ceiling for supplier enquiries.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Items 2.3 and 10.</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determine whether Members’ Night and a lucky draw provide a proportionate and affordable reward for member participation.</a:t>
            </a:r>
          </a:p>
          <a:p xmlns:a="http://schemas.openxmlformats.org/drawingml/2006/main">
            <a:r>
              <a:t/>
            </a:r>
          </a:p>
          <a:p xmlns:a="http://schemas.openxmlformats.org/drawingml/2006/main">
            <a:r>
              <a:t>Audience: regular participants from the June weekly classes and new members joining the club. Clarify whether attendance history, current membership or event registration determines eligibility.</a:t>
            </a:r>
          </a:p>
          <a:p xmlns:a="http://schemas.openxmlformats.org/drawingml/2006/main">
            <a:r>
              <a:t/>
            </a:r>
          </a:p>
          <a:p xmlns:a="http://schemas.openxmlformats.org/drawingml/2006/main">
            <a:r>
              <a:t>Possible benefits: food, health-oriented gifts, selected merchandise, participant feedback and promotion of future classes. Publicity should avoid promising benefits before budget confirmation.</a:t>
            </a:r>
          </a:p>
          <a:p xmlns:a="http://schemas.openxmlformats.org/drawingml/2006/main">
            <a:r>
              <a:t/>
            </a:r>
          </a:p>
          <a:p xmlns:a="http://schemas.openxmlformats.org/drawingml/2006/main">
            <a:r>
              <a:t>Financial condition: any use of club funds for the lucky draw requires budget review and approval. The Treasurer should document expected cost, item source and purchasing evidence.</a:t>
            </a:r>
          </a:p>
          <a:p xmlns:a="http://schemas.openxmlformats.org/drawingml/2006/main">
            <a:r>
              <a:t/>
            </a:r>
          </a:p>
          <a:p xmlns:a="http://schemas.openxmlformats.org/drawingml/2006/main">
            <a:r>
              <a:t>Decision required: confirm whether the activity proceeds, eligibility, benefits, provisional budget and approval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 12.</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test whether student instructors can deliver meditation or additional yoga practice safely and consistently.</a:t>
            </a:r>
          </a:p>
          <a:p xmlns:a="http://schemas.openxmlformats.org/drawingml/2006/main">
            <a:r>
              <a:t/>
            </a:r>
          </a:p>
          <a:p xmlns:a="http://schemas.openxmlformats.org/drawingml/2006/main">
            <a:r>
              <a:t>Pilot design: choose meditation, yoga practice or both. Decide whether the pilot runs on one selected day or weekly. Confirm venue, participant fee, instructor eligibility, supervision and attendance recording before publicity begins.</a:t>
            </a:r>
          </a:p>
          <a:p xmlns:a="http://schemas.openxmlformats.org/drawingml/2006/main">
            <a:r>
              <a:t/>
            </a:r>
          </a:p>
          <a:p xmlns:a="http://schemas.openxmlformats.org/drawingml/2006/main">
            <a:r>
              <a:t>Certification: eligible student instructors may receive certification under the approved framework. Event organisation and publicity personnel may receive separate yearly service certificates that state events supported, total service hours and role.</a:t>
            </a:r>
          </a:p>
          <a:p xmlns:a="http://schemas.openxmlformats.org/drawingml/2006/main">
            <a:r>
              <a:t/>
            </a:r>
          </a:p>
          <a:p xmlns:a="http://schemas.openxmlformats.org/drawingml/2006/main">
            <a:r>
              <a:t>Accountability: record responsibilities by hours and retain enough evidence to verify service claims.</a:t>
            </a:r>
          </a:p>
          <a:p xmlns:a="http://schemas.openxmlformats.org/drawingml/2006/main">
            <a:r>
              <a:t/>
            </a:r>
          </a:p>
          <a:p xmlns:a="http://schemas.openxmlformats.org/drawingml/2006/main">
            <a:r>
              <a:t>Decision required: approve the pilot scope, frequency, location owner, supervision arrangement and service-record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Items 3.9–3.12 and 11.</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resolve cross-cutting matters that affect several departments or require external clarification.</a:t>
            </a:r>
          </a:p>
          <a:p xmlns:a="http://schemas.openxmlformats.org/drawingml/2006/main">
            <a:r>
              <a:t/>
            </a:r>
          </a:p>
          <a:p xmlns:a="http://schemas.openxmlformats.org/drawingml/2006/main">
            <a:r>
              <a:t>Yoga Day: consult Ms Belinda about institutional requirements, information needs and approvals for a larger-scale event. Do not begin public promotion until the approval route is understood.</a:t>
            </a:r>
          </a:p>
          <a:p xmlns:a="http://schemas.openxmlformats.org/drawingml/2006/main">
            <a:r>
              <a:t/>
            </a:r>
          </a:p>
          <a:p xmlns:a="http://schemas.openxmlformats.org/drawingml/2006/main">
            <a:r>
              <a:t>Attendance: select a recording method that captures participant identity, date, activity and verified attendance. The method should support certification and coach service-hour records.</a:t>
            </a:r>
          </a:p>
          <a:p xmlns:a="http://schemas.openxmlformats.org/drawingml/2006/main">
            <a:r>
              <a:t/>
            </a:r>
          </a:p>
          <a:p xmlns:a="http://schemas.openxmlformats.org/drawingml/2006/main">
            <a:r>
              <a:t>Website: decide whether the proposed club website should hold attendance, fee status and receipt uploads. Define access rights and the authoritative record before moving information online.</a:t>
            </a:r>
          </a:p>
          <a:p xmlns:a="http://schemas.openxmlformats.org/drawingml/2006/main">
            <a:r>
              <a:t/>
            </a:r>
          </a:p>
          <a:p xmlns:a="http://schemas.openxmlformats.org/drawingml/2006/main">
            <a:r>
              <a:t>Decision required: identify unresolved matters, owner, consultation target and return date for each issue.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Yoga Club EXCO Meeting Agenda – 11 September 2026.md, meeting close and action-recording requirement derived from Items 3, 4, 6 and 11.</a:t>
            </a:r>
          </a:p>
          <a:p xmlns:a="http://schemas.openxmlformats.org/drawingml/2006/main">
            <a:r>
              <a:t/>
            </a:r>
          </a:p>
          <a:p xmlns:a="http://schemas.openxmlformats.org/drawingml/2006/main">
            <a:r>
              <a:t>Visual language and embedded imagery reference: 1nd EXCO proposal meeting 2026.pptx.</a:t>
            </a:r>
          </a:p>
          <a:p xmlns:a="http://schemas.openxmlformats.org/drawingml/2006/main">
            <a:r>
              <a:t/>
            </a:r>
          </a:p>
          <a:p xmlns:a="http://schemas.openxmlformats.org/drawingml/2006/main">
            <a:r>
              <a:t/>
            </a:r>
          </a:p>
          <a:p xmlns:a="http://schemas.openxmlformats.org/drawingml/2006/main">
            <a:r>
              <a:t/>
            </a:r>
          </a:p>
          <a:p xmlns:a="http://schemas.openxmlformats.org/drawingml/2006/main">
            <a:r>
              <a:t>Purpose: convert meeting discussion into an accountable record.</a:t>
            </a:r>
          </a:p>
          <a:p xmlns:a="http://schemas.openxmlformats.org/drawingml/2006/main">
            <a:r>
              <a:t/>
            </a:r>
          </a:p>
          <a:p xmlns:a="http://schemas.openxmlformats.org/drawingml/2006/main">
            <a:r>
              <a:t>Close-out check: read back each decision and confirm that members interpret it in the same way. Name one accountable owner, even when several departments contribute. Add a due date and identify the document or evidence that demonstrates completion.</a:t>
            </a:r>
          </a:p>
          <a:p xmlns:a="http://schemas.openxmlformats.org/drawingml/2006/main">
            <a:r>
              <a:t/>
            </a:r>
          </a:p>
          <a:p xmlns:a="http://schemas.openxmlformats.org/drawingml/2006/main">
            <a:r>
              <a:t>Dependencies: record any DSA, advisor, instructor, Treasurer or Secretary approval needed before work proceeds. Mark unresolved items clearly and set a date for returning them to the committee.</a:t>
            </a:r>
          </a:p>
          <a:p xmlns:a="http://schemas.openxmlformats.org/drawingml/2006/main">
            <a:r>
              <a:t/>
            </a:r>
          </a:p>
          <a:p xmlns:a="http://schemas.openxmlformats.org/drawingml/2006/main">
            <a:r>
              <a:t>After the meeting: the Secretary updates the minutes and proposal-report checklist. Department leads verify their actions and notify the Secretary when circumstances change.</a:t>
            </a:r>
          </a:p>
          <a:p xmlns:a="http://schemas.openxmlformats.org/drawingml/2006/main">
            <a:r>
              <a:t/>
            </a:r>
          </a:p>
          <a:p xmlns:a="http://schemas.openxmlformats.org/drawingml/2006/main">
            <a:r>
              <a:t>Record: final decisions, dissent or reservations where relevant, owners, due dates, approval dependencies and the next review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7c9f5f6a1a42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25a6d3e32148e9" /><Relationship Type="http://schemas.openxmlformats.org/officeDocument/2006/relationships/slideLayout" Target="/ppt/slideLayouts/slideLayout1.xml" Id="Rafb2955d43d047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b2955d43d047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UTAR Yoga Warm Neutral">
      <a:dk1>
        <a:srgbClr val="000000"/>
      </a:dk1>
      <a:lt1>
        <a:srgbClr val="FFFFFF"/>
      </a:lt1>
      <a:dk2>
        <a:srgbClr val="5B4F47"/>
      </a:dk2>
      <a:lt2>
        <a:srgbClr val="F4EBE4"/>
      </a:lt2>
      <a:accent1>
        <a:srgbClr val="5B4F47"/>
      </a:accent1>
      <a:accent2>
        <a:srgbClr val="BD9479"/>
      </a:accent2>
      <a:accent3>
        <a:srgbClr val="DDC1A7"/>
      </a:accent3>
      <a:accent4>
        <a:srgbClr val="D99D48"/>
      </a:accent4>
      <a:accent5>
        <a:srgbClr val="745E4D"/>
      </a:accent5>
      <a:accent6>
        <a:srgbClr val="F4EBE4"/>
      </a:accent6>
      <a:hlink>
        <a:srgbClr val="745E4D"/>
      </a:hlink>
      <a:folHlink>
        <a:srgbClr val="BD9479"/>
      </a:folHlink>
    </a:clrScheme>
    <a:fontScheme name="Office">
      <a:majorFont>
        <a:latin typeface="Calibri Light"/>
        <a:ea typeface="Calibri Light"/>
        <a:cs typeface="Calibri Light"/>
      </a:majorFont>
      <a:minorFont>
        <a:latin typeface="Calibri"/>
        <a:ea typeface="Calibri"/>
        <a:cs typeface="Calibri"/>
      </a:minorFont>
    </a:fontScheme>
    <a:fmtScheme name="UTAR Yoga Warm Neutr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69330bb89747b1" /><Relationship Type="http://schemas.openxmlformats.org/officeDocument/2006/relationships/image" Target="/ppt/media/image.jpeg" Id="Rd6e3ad707c7e4ed3" /><Relationship Type="http://schemas.openxmlformats.org/officeDocument/2006/relationships/image" Target="/ppt/media/image.png" Id="Rea56e80c10ba4957" /><Relationship Type="http://schemas.openxmlformats.org/officeDocument/2006/relationships/image" Target="/ppt/media/image2.png" Id="R06e63973757b48d3" /><Relationship Type="http://schemas.openxmlformats.org/officeDocument/2006/relationships/notesSlide" Target="/ppt/notesSlides/notesSlide1.xml" Id="R5c8d675e22ea43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9e8b5d4ae44272" /><Relationship Type="http://schemas.openxmlformats.org/officeDocument/2006/relationships/image" Target="/ppt/media/image2.jpeg" Id="Re0def61979594715" /><Relationship Type="http://schemas.openxmlformats.org/officeDocument/2006/relationships/image" Target="/ppt/media/image3.png" Id="R73a546bc08ba4b8a" /><Relationship Type="http://schemas.openxmlformats.org/officeDocument/2006/relationships/image" Target="/ppt/media/image4.png" Id="R67d6dbe066574b77" /><Relationship Type="http://schemas.openxmlformats.org/officeDocument/2006/relationships/notesSlide" Target="/ppt/notesSlides/notesSlide2.xml" Id="R2c11437fecc141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8092d318c242f7" /><Relationship Type="http://schemas.openxmlformats.org/officeDocument/2006/relationships/image" Target="/ppt/media/image3.jpeg" Id="R3c73d92685814763" /><Relationship Type="http://schemas.openxmlformats.org/officeDocument/2006/relationships/image" Target="/ppt/media/image5.png" Id="Ref4f803dc0b449be" /><Relationship Type="http://schemas.openxmlformats.org/officeDocument/2006/relationships/image" Target="/ppt/media/image6.png" Id="R5cd604e173e04192" /><Relationship Type="http://schemas.openxmlformats.org/officeDocument/2006/relationships/image" Target="/ppt/media/image7.png" Id="R44a5df6708034bd6" /><Relationship Type="http://schemas.openxmlformats.org/officeDocument/2006/relationships/notesSlide" Target="/ppt/notesSlides/notesSlide3.xml" Id="R4cbcbe6d02684e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38724a59204da3" /><Relationship Type="http://schemas.openxmlformats.org/officeDocument/2006/relationships/image" Target="/ppt/media/image4.jpeg" Id="R0ec93710fa584bd6" /><Relationship Type="http://schemas.openxmlformats.org/officeDocument/2006/relationships/image" Target="/ppt/media/image8.png" Id="Reef53a7b830f49d5" /><Relationship Type="http://schemas.openxmlformats.org/officeDocument/2006/relationships/image" Target="/ppt/media/image9.png" Id="R5221c5e975074520" /><Relationship Type="http://schemas.openxmlformats.org/officeDocument/2006/relationships/image" Target="/ppt/media/image10.png" Id="Re264561b3c3f425c" /><Relationship Type="http://schemas.openxmlformats.org/officeDocument/2006/relationships/notesSlide" Target="/ppt/notesSlides/notesSlide4.xml" Id="R55a48fc48f9649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dd7cb8a7174a61" /><Relationship Type="http://schemas.openxmlformats.org/officeDocument/2006/relationships/image" Target="/ppt/media/image5.jpeg" Id="Rf55715de32834099" /><Relationship Type="http://schemas.openxmlformats.org/officeDocument/2006/relationships/image" Target="/ppt/media/image11.png" Id="R61e230707c1d4f75" /><Relationship Type="http://schemas.openxmlformats.org/officeDocument/2006/relationships/image" Target="/ppt/media/image12.png" Id="Ra81a8b0e3e1d43e0" /><Relationship Type="http://schemas.openxmlformats.org/officeDocument/2006/relationships/image" Target="/ppt/media/image13.png" Id="Rad0e1fb26f45495a" /><Relationship Type="http://schemas.openxmlformats.org/officeDocument/2006/relationships/notesSlide" Target="/ppt/notesSlides/notesSlide5.xml" Id="R928d6f22df6649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4b492972d54a42" /><Relationship Type="http://schemas.openxmlformats.org/officeDocument/2006/relationships/image" Target="/ppt/media/image6.jpeg" Id="R01c7c576d3424823" /><Relationship Type="http://schemas.openxmlformats.org/officeDocument/2006/relationships/image" Target="/ppt/media/image14.png" Id="Raa2c2c264fd64268" /><Relationship Type="http://schemas.openxmlformats.org/officeDocument/2006/relationships/image" Target="/ppt/media/image15.png" Id="R62a4cfcf21e54fd2" /><Relationship Type="http://schemas.openxmlformats.org/officeDocument/2006/relationships/image" Target="/ppt/media/image16.png" Id="R5997a2d4885e406b" /><Relationship Type="http://schemas.openxmlformats.org/officeDocument/2006/relationships/notesSlide" Target="/ppt/notesSlides/notesSlide6.xml" Id="R422b2999adc246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56f317ece44d09" /><Relationship Type="http://schemas.openxmlformats.org/officeDocument/2006/relationships/image" Target="/ppt/media/image7.jpeg" Id="R5633e81cdacb44d8" /><Relationship Type="http://schemas.openxmlformats.org/officeDocument/2006/relationships/image" Target="/ppt/media/image17.png" Id="R04c8f6adbd06484b" /><Relationship Type="http://schemas.openxmlformats.org/officeDocument/2006/relationships/image" Target="/ppt/media/image18.png" Id="R7478101f88a2427c" /><Relationship Type="http://schemas.openxmlformats.org/officeDocument/2006/relationships/image" Target="/ppt/media/image19.png" Id="R280aa5270fe54970" /><Relationship Type="http://schemas.openxmlformats.org/officeDocument/2006/relationships/notesSlide" Target="/ppt/notesSlides/notesSlide7.xml" Id="R1e487dbb966841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8cada528d246dd" /><Relationship Type="http://schemas.openxmlformats.org/officeDocument/2006/relationships/image" Target="/ppt/media/image8.jpeg" Id="Ra98cd9b1dd8044fb" /><Relationship Type="http://schemas.openxmlformats.org/officeDocument/2006/relationships/image" Target="/ppt/media/image20.png" Id="R96e0c80373a142ca" /><Relationship Type="http://schemas.openxmlformats.org/officeDocument/2006/relationships/image" Target="/ppt/media/image21.png" Id="Rd9a16fcf0aa8481c" /><Relationship Type="http://schemas.openxmlformats.org/officeDocument/2006/relationships/image" Target="/ppt/media/image9.jpeg" Id="Rbaadf91101894f23" /><Relationship Type="http://schemas.openxmlformats.org/officeDocument/2006/relationships/notesSlide" Target="/ppt/notesSlides/notesSlide8.xml" Id="R8b523f520b794e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a68a43063d4b32" /><Relationship Type="http://schemas.openxmlformats.org/officeDocument/2006/relationships/image" Target="/ppt/media/image10.jpeg" Id="Rc5b6dcd278a844b5" /><Relationship Type="http://schemas.openxmlformats.org/officeDocument/2006/relationships/image" Target="/ppt/media/image22.png" Id="R4e7591c706954acf" /><Relationship Type="http://schemas.openxmlformats.org/officeDocument/2006/relationships/image" Target="/ppt/media/image23.png" Id="R1fab98ff54754b14" /><Relationship Type="http://schemas.openxmlformats.org/officeDocument/2006/relationships/image" Target="/ppt/media/image24.png" Id="R789d7038b4084f50" /><Relationship Type="http://schemas.openxmlformats.org/officeDocument/2006/relationships/notesSlide" Target="/ppt/notesSlides/notesSlide9.xml" Id="R3b2f0063f5504d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b99d636aaac4405" /><Relationship Type="http://schemas.openxmlformats.org/officeDocument/2006/relationships/image" Target="/ppt/media/image11.jpeg" Id="R522164ac7b3d4faa" /><Relationship Type="http://schemas.openxmlformats.org/officeDocument/2006/relationships/image" Target="/ppt/media/image25.png" Id="R0ab8a40ca2a344bd" /><Relationship Type="http://schemas.openxmlformats.org/officeDocument/2006/relationships/image" Target="/ppt/media/image26.png" Id="Rf67d7dd73aed430b" /><Relationship Type="http://schemas.openxmlformats.org/officeDocument/2006/relationships/image" Target="/ppt/media/image12.jpeg" Id="Rf7c748fa1fc54cda" /><Relationship Type="http://schemas.openxmlformats.org/officeDocument/2006/relationships/notesSlide" Target="/ppt/notesSlides/notesSlide10.xml" Id="R0991479e37d24c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c1fb5c35df846d6" /><Relationship Type="http://schemas.openxmlformats.org/officeDocument/2006/relationships/image" Target="/ppt/media/image13.jpeg" Id="Rbcce27023df643c4" /><Relationship Type="http://schemas.openxmlformats.org/officeDocument/2006/relationships/image" Target="/ppt/media/image27.png" Id="R2a6bb61af29047cd" /><Relationship Type="http://schemas.openxmlformats.org/officeDocument/2006/relationships/image" Target="/ppt/media/image28.png" Id="R99c9d12a1a6741af" /><Relationship Type="http://schemas.openxmlformats.org/officeDocument/2006/relationships/image" Target="/ppt/media/image29.png" Id="R2fb84e7dbbcf4ba1" /><Relationship Type="http://schemas.openxmlformats.org/officeDocument/2006/relationships/notesSlide" Target="/ppt/notesSlides/notesSlide11.xml" Id="R550b9e1fbc1644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5efd13e0614f61" /><Relationship Type="http://schemas.openxmlformats.org/officeDocument/2006/relationships/image" Target="/ppt/media/image14.jpeg" Id="R5dfc1081afd64bdf" /><Relationship Type="http://schemas.openxmlformats.org/officeDocument/2006/relationships/image" Target="/ppt/media/image30.png" Id="R0b8364e7a2f44ca8" /><Relationship Type="http://schemas.openxmlformats.org/officeDocument/2006/relationships/image" Target="/ppt/media/image31.png" Id="R255601211ffc41b7" /><Relationship Type="http://schemas.openxmlformats.org/officeDocument/2006/relationships/notesSlide" Target="/ppt/notesSlides/notesSlide12.xml" Id="R2a2f783e17974b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a8da910d29a4d46" /><Relationship Type="http://schemas.openxmlformats.org/officeDocument/2006/relationships/image" Target="/ppt/media/image15.jpeg" Id="R94d3c2590af04926" /><Relationship Type="http://schemas.openxmlformats.org/officeDocument/2006/relationships/image" Target="/ppt/media/image32.png" Id="Re3ba1849d6764c76" /><Relationship Type="http://schemas.openxmlformats.org/officeDocument/2006/relationships/image" Target="/ppt/media/image33.png" Id="Rea85e94ec7db468e" /><Relationship Type="http://schemas.openxmlformats.org/officeDocument/2006/relationships/image" Target="/ppt/media/image34.png" Id="R7537326551704dc3" /><Relationship Type="http://schemas.openxmlformats.org/officeDocument/2006/relationships/notesSlide" Target="/ppt/notesSlides/notesSlide13.xml" Id="R1c2ba8d051f447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2dd85602b9e4422" /><Relationship Type="http://schemas.openxmlformats.org/officeDocument/2006/relationships/image" Target="/ppt/media/image16.jpeg" Id="Rc4cb0d123d2c435a" /><Relationship Type="http://schemas.openxmlformats.org/officeDocument/2006/relationships/image" Target="/ppt/media/image35.png" Id="Rf7a1b7c608ea4159" /><Relationship Type="http://schemas.openxmlformats.org/officeDocument/2006/relationships/image" Target="/ppt/media/image36.png" Id="R7383b0f31eab43e7" /><Relationship Type="http://schemas.openxmlformats.org/officeDocument/2006/relationships/notesSlide" Target="/ppt/notesSlides/notesSlide14.xml" Id="Re5d20d99359042e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8f41e7d26c9401e" /><Relationship Type="http://schemas.openxmlformats.org/officeDocument/2006/relationships/image" Target="/ppt/media/image37.png" Id="Rd5dbf355a5134ce2" /><Relationship Type="http://schemas.openxmlformats.org/officeDocument/2006/relationships/image" Target="/ppt/media/image38.png" Id="R592fc47393504218" /><Relationship Type="http://schemas.openxmlformats.org/officeDocument/2006/relationships/notesSlide" Target="/ppt/notesSlides/notesSlide15.xml" Id="R06a447d0a5f74e59" /></Relationships>
</file>

<file path=ppt/slides/slide1.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6e3ad707c7e4ed3"/>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a56e80c10ba4957"/>
          <a:stretch xmlns:a="http://schemas.openxmlformats.org/drawingml/2006/main"/>
        </p:blipFill>
        <p:spPr>
          <a:xfrm xmlns:a="http://schemas.openxmlformats.org/drawingml/2006/main">
            <a:off x="13144500" y="0"/>
            <a:ext cx="5143500" cy="5143500"/>
          </a:xfrm>
          <a:prstGeom xmlns:a="http://schemas.openxmlformats.org/drawingml/2006/main" prst="rect">
            <a:avLst/>
          </a:prstGeom>
        </p:spPr>
      </p:pic>
      <p:sp>
        <p:nvSpPr>
          <p:cNvPr id="3" name="left-accent">
            <a:extLst xmlns:a="http://schemas.openxmlformats.org/drawingml/2006/main">
              <a:ext uri="{FF2B5EF4-FFF2-40B4-BE49-F238E27FC236}">
                <a16:creationId xmlns:a16="http://schemas.microsoft.com/office/drawing/2014/main" id="{4680DA16-1C06-4CAC-8251-B53FD9580FF5}"/>
              </a:ext>
            </a:extLst>
          </p:cNvPr>
          <p:cNvSpPr>
            <a:spLocks xmlns:a="http://schemas.openxmlformats.org/drawingml/2006/main" noGrp="1"/>
          </p:cNvSpPr>
          <p:nvPr/>
        </p:nvSpPr>
        <p:spPr>
          <a:xfrm xmlns:a="http://schemas.openxmlformats.org/drawingml/2006/main">
            <a:off x="0" y="0"/>
            <a:ext cx="438150" cy="1028700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4" name="cover-field">
            <a:extLst xmlns:a="http://schemas.openxmlformats.org/drawingml/2006/main">
              <a:ext uri="{FF2B5EF4-FFF2-40B4-BE49-F238E27FC236}">
                <a16:creationId xmlns:a16="http://schemas.microsoft.com/office/drawing/2014/main" id="{98F32D19-0FEC-4A6B-9583-71B7D2E7EF06}"/>
              </a:ext>
            </a:extLst>
          </p:cNvPr>
          <p:cNvSpPr>
            <a:spLocks xmlns:a="http://schemas.openxmlformats.org/drawingml/2006/main" noGrp="1"/>
          </p:cNvSpPr>
          <p:nvPr/>
        </p:nvSpPr>
        <p:spPr>
          <a:xfrm xmlns:a="http://schemas.openxmlformats.org/drawingml/2006/main">
            <a:off x="11906250" y="0"/>
            <a:ext cx="6381750" cy="10287000"/>
          </a:xfrm>
          <a:prstGeom xmlns:a="http://schemas.openxmlformats.org/drawingml/2006/main" prst="rect">
            <a:avLst/>
          </a:prstGeom>
          <a:solidFill xmlns:a="http://schemas.openxmlformats.org/drawingml/2006/main">
            <a:srgbClr val="F4EBE4"/>
          </a:solidFill>
          <a:ln xmlns:a="http://schemas.openxmlformats.org/drawingml/2006/main" w="0">
            <a:no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6e63973757b48d3"/>
          <a:stretch xmlns:a="http://schemas.openxmlformats.org/drawingml/2006/main"/>
        </p:blipFill>
        <p:spPr>
          <a:xfrm xmlns:a="http://schemas.openxmlformats.org/drawingml/2006/main">
            <a:off x="13239750" y="1952625"/>
            <a:ext cx="3429000" cy="3429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A6FDE10-64C0-4BED-8B68-76B174A03274}"/>
              </a:ext>
            </a:extLst>
          </p:cNvPr>
          <p:cNvSpPr>
            <a:spLocks xmlns:a="http://schemas.openxmlformats.org/drawingml/2006/main" noGrp="1"/>
          </p:cNvSpPr>
          <p:nvPr/>
        </p:nvSpPr>
        <p:spPr>
          <a:xfrm xmlns:a="http://schemas.openxmlformats.org/drawingml/2006/main">
            <a:off x="1143000" y="1123950"/>
            <a:ext cx="790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025" b="1">
                <a:solidFill>
                  <a:srgbClr val="BD9479"/>
                </a:solidFill>
                <a:latin typeface="Poppins Bold"/>
                <a:ea typeface="Poppins Bold"/>
                <a:cs typeface="Poppins Bold"/>
              </a:defRPr>
            </a:pPr>
            <a:r>
              <a:rPr sz="2025" b="1">
                <a:solidFill>
                  <a:srgbClr val="BD9479"/>
                </a:solidFill>
                <a:latin typeface="Poppins Bold"/>
                <a:ea typeface="Poppins Bold"/>
                <a:cs typeface="Poppins Bold"/>
              </a:rPr>
              <a:t>YOGA CLUB SOCIETY</a:t>
            </a:r>
          </a:p>
        </p:txBody>
      </p:sp>
      <p:sp>
        <p:nvSpPr>
          <p:cNvPr id="7" name="cover-title">
            <a:extLst xmlns:a="http://schemas.openxmlformats.org/drawingml/2006/main">
              <a:ext uri="{FF2B5EF4-FFF2-40B4-BE49-F238E27FC236}">
                <a16:creationId xmlns:a16="http://schemas.microsoft.com/office/drawing/2014/main" id="{EBD3D957-0D27-49D2-AC09-80F0A8F37895}"/>
              </a:ext>
            </a:extLst>
          </p:cNvPr>
          <p:cNvSpPr>
            <a:spLocks xmlns:a="http://schemas.openxmlformats.org/drawingml/2006/main" noGrp="1"/>
          </p:cNvSpPr>
          <p:nvPr/>
        </p:nvSpPr>
        <p:spPr>
          <a:xfrm xmlns:a="http://schemas.openxmlformats.org/drawingml/2006/main">
            <a:off x="1123950" y="2095500"/>
            <a:ext cx="95250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5550" b="1">
                <a:solidFill>
                  <a:srgbClr val="5B4F47"/>
                </a:solidFill>
                <a:latin typeface="Poppins Bold"/>
                <a:ea typeface="Poppins Bold"/>
                <a:cs typeface="Poppins Bold"/>
              </a:defRPr>
            </a:pPr>
            <a:r>
              <a:rPr sz="5550" b="1">
                <a:solidFill>
                  <a:srgbClr val="5B4F47"/>
                </a:solidFill>
                <a:latin typeface="Poppins Bold"/>
                <a:ea typeface="Poppins Bold"/>
                <a:cs typeface="Poppins Bold"/>
              </a:rPr>
              <a:t>EXCO MEETING</a:t>
            </a:r>
          </a:p>
          <a:p xmlns:a="http://schemas.openxmlformats.org/drawingml/2006/main">
            <a:pPr>
              <a:defRPr sz="5550" b="1">
                <a:solidFill>
                  <a:srgbClr val="5B4F47"/>
                </a:solidFill>
                <a:latin typeface="Poppins Bold"/>
                <a:ea typeface="Poppins Bold"/>
                <a:cs typeface="Poppins Bold"/>
              </a:defRPr>
            </a:pPr>
            <a:r>
              <a:rPr sz="5550" b="1">
                <a:solidFill>
                  <a:srgbClr val="5B4F47"/>
                </a:solidFill>
                <a:latin typeface="Poppins Bold"/>
                <a:ea typeface="Poppins Bold"/>
                <a:cs typeface="Poppins Bold"/>
              </a:rPr>
              <a:t>AGENDA</a:t>
            </a:r>
          </a:p>
        </p:txBody>
      </p:sp>
      <p:sp>
        <p:nvSpPr>
          <p:cNvPr id="8" name="cover-rule">
            <a:extLst xmlns:a="http://schemas.openxmlformats.org/drawingml/2006/main">
              <a:ext uri="{FF2B5EF4-FFF2-40B4-BE49-F238E27FC236}">
                <a16:creationId xmlns:a16="http://schemas.microsoft.com/office/drawing/2014/main" id="{BFD5702C-AB3F-4B58-9BAF-1891691705F7}"/>
              </a:ext>
            </a:extLst>
          </p:cNvPr>
          <p:cNvSpPr>
            <a:spLocks xmlns:a="http://schemas.openxmlformats.org/drawingml/2006/main" noGrp="1"/>
          </p:cNvSpPr>
          <p:nvPr/>
        </p:nvSpPr>
        <p:spPr>
          <a:xfrm xmlns:a="http://schemas.openxmlformats.org/drawingml/2006/main">
            <a:off x="1143000" y="4591050"/>
            <a:ext cx="1666875" cy="85725"/>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8FC2AB7-3BBD-451A-B3DF-079CACA789A6}"/>
              </a:ext>
            </a:extLst>
          </p:cNvPr>
          <p:cNvSpPr>
            <a:spLocks xmlns:a="http://schemas.openxmlformats.org/drawingml/2006/main" noGrp="1"/>
          </p:cNvSpPr>
          <p:nvPr/>
        </p:nvSpPr>
        <p:spPr>
          <a:xfrm xmlns:a="http://schemas.openxmlformats.org/drawingml/2006/main">
            <a:off x="1143000" y="5095875"/>
            <a:ext cx="8477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325">
                <a:solidFill>
                  <a:srgbClr val="433831"/>
                </a:solidFill>
                <a:latin typeface="Poppins"/>
                <a:ea typeface="Poppins"/>
                <a:cs typeface="Poppins"/>
              </a:defRPr>
            </a:pPr>
            <a:r>
              <a:rPr sz="2325">
                <a:solidFill>
                  <a:srgbClr val="433831"/>
                </a:solidFill>
                <a:latin typeface="Poppins"/>
                <a:ea typeface="Poppins"/>
                <a:cs typeface="Poppins"/>
              </a:rPr>
              <a:t>Friday, 11 September 2026</a:t>
            </a:r>
          </a:p>
          <a:p xmlns:a="http://schemas.openxmlformats.org/drawingml/2006/main">
            <a:pPr>
              <a:defRPr sz="2325">
                <a:solidFill>
                  <a:srgbClr val="433831"/>
                </a:solidFill>
                <a:latin typeface="Poppins"/>
                <a:ea typeface="Poppins"/>
                <a:cs typeface="Poppins"/>
              </a:defRPr>
            </a:pPr>
            <a:r>
              <a:rPr sz="2325">
                <a:solidFill>
                  <a:srgbClr val="433831"/>
                </a:solidFill>
                <a:latin typeface="Poppins"/>
                <a:ea typeface="Poppins"/>
                <a:cs typeface="Poppins"/>
              </a:rPr>
              <a:t>7:00 p.m., Google Meet</a:t>
            </a:r>
          </a:p>
        </p:txBody>
      </p:sp>
      <p:sp>
        <p:nvSpPr>
          <p:cNvPr id="10" name="">
            <a:extLst xmlns:a="http://schemas.openxmlformats.org/drawingml/2006/main">
              <a:ext uri="{FF2B5EF4-FFF2-40B4-BE49-F238E27FC236}">
                <a16:creationId xmlns:a16="http://schemas.microsoft.com/office/drawing/2014/main" id="{F1DDADE5-C932-4E33-B0A6-719D392E54DF}"/>
              </a:ext>
            </a:extLst>
          </p:cNvPr>
          <p:cNvSpPr>
            <a:spLocks xmlns:a="http://schemas.openxmlformats.org/drawingml/2006/main" noGrp="1"/>
          </p:cNvSpPr>
          <p:nvPr/>
        </p:nvSpPr>
        <p:spPr>
          <a:xfrm xmlns:a="http://schemas.openxmlformats.org/drawingml/2006/main">
            <a:off x="1143000" y="8572500"/>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800" b="1">
                <a:solidFill>
                  <a:srgbClr val="745E4D"/>
                </a:solidFill>
                <a:latin typeface="Poppins Bold"/>
                <a:ea typeface="Poppins Bold"/>
                <a:cs typeface="Poppins Bold"/>
              </a:defRPr>
            </a:pPr>
            <a:r>
              <a:rPr sz="1800" b="1">
                <a:solidFill>
                  <a:srgbClr val="745E4D"/>
                </a:solidFill>
                <a:latin typeface="Poppins Bold"/>
                <a:ea typeface="Poppins Bold"/>
                <a:cs typeface="Poppins Bold"/>
              </a:rPr>
              <a:t>SUNGAI LONG CAMPUS</a:t>
            </a:r>
          </a:p>
        </p:txBody>
      </p:sp>
    </p:spTree>
    <p:extLst>
      <p:ext uri="{BB962C8B-B14F-4D97-AF65-F5344CB8AC3E}">
        <p14:creationId xmlns:p14="http://schemas.microsoft.com/office/powerpoint/2010/main" val="1077723599"/>
      </p:ext>
    </p:extLst>
  </p:cSld>
</p:sld>
</file>

<file path=ppt/slides/slide2.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0def61979594715"/>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3a546bc08ba4b8a"/>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7d6dbe066574b77"/>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1567BE3A-01E9-49A1-894A-7C9674F4CA15}"/>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6F93831A-01A7-4CD9-89F6-E4A52AF25126}"/>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820EDCD4-2FF7-46F2-AD4C-185CEDF7CF40}"/>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01</a:t>
            </a:r>
          </a:p>
        </p:txBody>
      </p:sp>
      <p:sp>
        <p:nvSpPr>
          <p:cNvPr id="7" name="slide-title">
            <a:extLst xmlns:a="http://schemas.openxmlformats.org/drawingml/2006/main">
              <a:ext uri="{FF2B5EF4-FFF2-40B4-BE49-F238E27FC236}">
                <a16:creationId xmlns:a16="http://schemas.microsoft.com/office/drawing/2014/main" id="{D567FE7C-5535-40E2-BCDA-F74B0C9B82F9}"/>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Decisions required at this meeting</a:t>
            </a:r>
          </a:p>
        </p:txBody>
      </p:sp>
      <p:sp>
        <p:nvSpPr>
          <p:cNvPr id="8" name="title-rule">
            <a:extLst xmlns:a="http://schemas.openxmlformats.org/drawingml/2006/main">
              <a:ext uri="{FF2B5EF4-FFF2-40B4-BE49-F238E27FC236}">
                <a16:creationId xmlns:a16="http://schemas.microsoft.com/office/drawing/2014/main" id="{50BA503C-D489-4780-B831-710B3C105AE8}"/>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5B8CFD8A-69B2-4E29-BDC8-D94181AC0C7A}"/>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821E921C-7E7C-486B-A776-0B6372E37DA8}"/>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2</a:t>
            </a:r>
          </a:p>
        </p:txBody>
      </p:sp>
      <p:sp>
        <p:nvSpPr>
          <p:cNvPr id="11" name="">
            <a:extLst xmlns:a="http://schemas.openxmlformats.org/drawingml/2006/main">
              <a:ext uri="{FF2B5EF4-FFF2-40B4-BE49-F238E27FC236}">
                <a16:creationId xmlns:a16="http://schemas.microsoft.com/office/drawing/2014/main" id="{160C7042-01C8-4CD6-8454-33BD283C4818}"/>
              </a:ext>
            </a:extLst>
          </p:cNvPr>
          <p:cNvSpPr>
            <a:spLocks xmlns:a="http://schemas.openxmlformats.org/drawingml/2006/main" noGrp="1"/>
          </p:cNvSpPr>
          <p:nvPr/>
        </p:nvSpPr>
        <p:spPr>
          <a:xfrm xmlns:a="http://schemas.openxmlformats.org/drawingml/2006/main">
            <a:off x="1047750" y="27622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BD9479"/>
                </a:solidFill>
                <a:latin typeface="Poppins Bold"/>
                <a:ea typeface="Poppins Bold"/>
                <a:cs typeface="Poppins Bold"/>
              </a:defRPr>
            </a:pPr>
            <a:r>
              <a:rPr sz="1725" b="1">
                <a:solidFill>
                  <a:srgbClr val="BD9479"/>
                </a:solidFill>
                <a:latin typeface="Poppins Bold"/>
                <a:ea typeface="Poppins Bold"/>
                <a:cs typeface="Poppins Bold"/>
              </a:rPr>
              <a:t>PROGRAMME</a:t>
            </a:r>
          </a:p>
        </p:txBody>
      </p:sp>
      <p:sp>
        <p:nvSpPr>
          <p:cNvPr id="12" name="">
            <a:extLst xmlns:a="http://schemas.openxmlformats.org/drawingml/2006/main">
              <a:ext uri="{FF2B5EF4-FFF2-40B4-BE49-F238E27FC236}">
                <a16:creationId xmlns:a16="http://schemas.microsoft.com/office/drawing/2014/main" id="{2F93B756-6211-453F-A3DA-CE58C9B602F6}"/>
              </a:ext>
            </a:extLst>
          </p:cNvPr>
          <p:cNvSpPr>
            <a:spLocks xmlns:a="http://schemas.openxmlformats.org/drawingml/2006/main" noGrp="1"/>
          </p:cNvSpPr>
          <p:nvPr/>
        </p:nvSpPr>
        <p:spPr>
          <a:xfrm xmlns:a="http://schemas.openxmlformats.org/drawingml/2006/main">
            <a:off x="4000500" y="274320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Confirm compulsory activities and select the proposed trials for the next semester.</a:t>
            </a:r>
          </a:p>
        </p:txBody>
      </p:sp>
      <p:sp>
        <p:nvSpPr>
          <p:cNvPr id="13" name="">
            <a:extLst xmlns:a="http://schemas.openxmlformats.org/drawingml/2006/main">
              <a:ext uri="{FF2B5EF4-FFF2-40B4-BE49-F238E27FC236}">
                <a16:creationId xmlns:a16="http://schemas.microsoft.com/office/drawing/2014/main" id="{B3340BE2-96C9-45F1-8622-A7586BDFDC80}"/>
              </a:ext>
            </a:extLst>
          </p:cNvPr>
          <p:cNvSpPr>
            <a:spLocks xmlns:a="http://schemas.openxmlformats.org/drawingml/2006/main" noGrp="1"/>
          </p:cNvSpPr>
          <p:nvPr/>
        </p:nvSpPr>
        <p:spPr>
          <a:xfrm xmlns:a="http://schemas.openxmlformats.org/drawingml/2006/main">
            <a:off x="1047750" y="38576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BD9479"/>
                </a:solidFill>
                <a:latin typeface="Poppins Bold"/>
                <a:ea typeface="Poppins Bold"/>
                <a:cs typeface="Poppins Bold"/>
              </a:defRPr>
            </a:pPr>
            <a:r>
              <a:rPr sz="1725" b="1">
                <a:solidFill>
                  <a:srgbClr val="BD9479"/>
                </a:solidFill>
                <a:latin typeface="Poppins Bold"/>
                <a:ea typeface="Poppins Bold"/>
                <a:cs typeface="Poppins Bold"/>
              </a:rPr>
              <a:t>OCTOBER RD</a:t>
            </a:r>
          </a:p>
        </p:txBody>
      </p:sp>
      <p:sp>
        <p:nvSpPr>
          <p:cNvPr id="14" name="">
            <a:extLst xmlns:a="http://schemas.openxmlformats.org/drawingml/2006/main">
              <a:ext uri="{FF2B5EF4-FFF2-40B4-BE49-F238E27FC236}">
                <a16:creationId xmlns:a16="http://schemas.microsoft.com/office/drawing/2014/main" id="{1556CCBF-CB5D-4B43-B43B-74FE21ACCF45}"/>
              </a:ext>
            </a:extLst>
          </p:cNvPr>
          <p:cNvSpPr>
            <a:spLocks xmlns:a="http://schemas.openxmlformats.org/drawingml/2006/main" noGrp="1"/>
          </p:cNvSpPr>
          <p:nvPr/>
        </p:nvSpPr>
        <p:spPr>
          <a:xfrm xmlns:a="http://schemas.openxmlformats.org/drawingml/2006/main">
            <a:off x="4000500" y="3838575"/>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Approve the promotion offer, Members’ Night link and Vice Treasurer recruitment message.</a:t>
            </a:r>
          </a:p>
        </p:txBody>
      </p:sp>
      <p:sp>
        <p:nvSpPr>
          <p:cNvPr id="15" name="">
            <a:extLst xmlns:a="http://schemas.openxmlformats.org/drawingml/2006/main">
              <a:ext uri="{FF2B5EF4-FFF2-40B4-BE49-F238E27FC236}">
                <a16:creationId xmlns:a16="http://schemas.microsoft.com/office/drawing/2014/main" id="{58824E76-D93F-4267-9DC3-824E45FE3047}"/>
              </a:ext>
            </a:extLst>
          </p:cNvPr>
          <p:cNvSpPr>
            <a:spLocks xmlns:a="http://schemas.openxmlformats.org/drawingml/2006/main" noGrp="1"/>
          </p:cNvSpPr>
          <p:nvPr/>
        </p:nvSpPr>
        <p:spPr>
          <a:xfrm xmlns:a="http://schemas.openxmlformats.org/drawingml/2006/main">
            <a:off x="1047750" y="49530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BD9479"/>
                </a:solidFill>
                <a:latin typeface="Poppins Bold"/>
                <a:ea typeface="Poppins Bold"/>
                <a:cs typeface="Poppins Bold"/>
              </a:defRPr>
            </a:pPr>
            <a:r>
              <a:rPr sz="1725" b="1">
                <a:solidFill>
                  <a:srgbClr val="BD9479"/>
                </a:solidFill>
                <a:latin typeface="Poppins Bold"/>
                <a:ea typeface="Poppins Bold"/>
                <a:cs typeface="Poppins Bold"/>
              </a:rPr>
              <a:t>GOVERNANCE</a:t>
            </a:r>
          </a:p>
        </p:txBody>
      </p:sp>
      <p:sp>
        <p:nvSpPr>
          <p:cNvPr id="16" name="">
            <a:extLst xmlns:a="http://schemas.openxmlformats.org/drawingml/2006/main">
              <a:ext uri="{FF2B5EF4-FFF2-40B4-BE49-F238E27FC236}">
                <a16:creationId xmlns:a16="http://schemas.microsoft.com/office/drawing/2014/main" id="{A8F74A84-E736-4F13-8593-2F518992362D}"/>
              </a:ext>
            </a:extLst>
          </p:cNvPr>
          <p:cNvSpPr>
            <a:spLocks xmlns:a="http://schemas.openxmlformats.org/drawingml/2006/main" noGrp="1"/>
          </p:cNvSpPr>
          <p:nvPr/>
        </p:nvSpPr>
        <p:spPr>
          <a:xfrm xmlns:a="http://schemas.openxmlformats.org/drawingml/2006/main">
            <a:off x="4000500" y="493395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Agree proposal, reporting, finance, attendance and publicity controls.</a:t>
            </a:r>
          </a:p>
        </p:txBody>
      </p:sp>
      <p:sp>
        <p:nvSpPr>
          <p:cNvPr id="17" name="">
            <a:extLst xmlns:a="http://schemas.openxmlformats.org/drawingml/2006/main">
              <a:ext uri="{FF2B5EF4-FFF2-40B4-BE49-F238E27FC236}">
                <a16:creationId xmlns:a16="http://schemas.microsoft.com/office/drawing/2014/main" id="{B764665E-83C1-49E3-9B6C-FBFBB13F9C2F}"/>
              </a:ext>
            </a:extLst>
          </p:cNvPr>
          <p:cNvSpPr>
            <a:spLocks xmlns:a="http://schemas.openxmlformats.org/drawingml/2006/main" noGrp="1"/>
          </p:cNvSpPr>
          <p:nvPr/>
        </p:nvSpPr>
        <p:spPr>
          <a:xfrm xmlns:a="http://schemas.openxmlformats.org/drawingml/2006/main">
            <a:off x="1047750" y="604837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BD9479"/>
                </a:solidFill>
                <a:latin typeface="Poppins Bold"/>
                <a:ea typeface="Poppins Bold"/>
                <a:cs typeface="Poppins Bold"/>
              </a:defRPr>
            </a:pPr>
            <a:r>
              <a:rPr sz="1725" b="1">
                <a:solidFill>
                  <a:srgbClr val="BD9479"/>
                </a:solidFill>
                <a:latin typeface="Poppins Bold"/>
                <a:ea typeface="Poppins Bold"/>
                <a:cs typeface="Poppins Bold"/>
              </a:rPr>
              <a:t>PEOPLE</a:t>
            </a:r>
          </a:p>
        </p:txBody>
      </p:sp>
      <p:sp>
        <p:nvSpPr>
          <p:cNvPr id="18" name="">
            <a:extLst xmlns:a="http://schemas.openxmlformats.org/drawingml/2006/main">
              <a:ext uri="{FF2B5EF4-FFF2-40B4-BE49-F238E27FC236}">
                <a16:creationId xmlns:a16="http://schemas.microsoft.com/office/drawing/2014/main" id="{E6AD1C3A-EACB-4440-BC26-62A49EAAD7DE}"/>
              </a:ext>
            </a:extLst>
          </p:cNvPr>
          <p:cNvSpPr>
            <a:spLocks xmlns:a="http://schemas.openxmlformats.org/drawingml/2006/main" noGrp="1"/>
          </p:cNvSpPr>
          <p:nvPr/>
        </p:nvSpPr>
        <p:spPr>
          <a:xfrm xmlns:a="http://schemas.openxmlformats.org/drawingml/2006/main">
            <a:off x="4000500" y="6029325"/>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Confirm certification rules, signatories and committee recruitment priorities.</a:t>
            </a:r>
          </a:p>
        </p:txBody>
      </p:sp>
      <p:sp>
        <p:nvSpPr>
          <p:cNvPr id="19" name="">
            <a:extLst xmlns:a="http://schemas.openxmlformats.org/drawingml/2006/main">
              <a:ext uri="{FF2B5EF4-FFF2-40B4-BE49-F238E27FC236}">
                <a16:creationId xmlns:a16="http://schemas.microsoft.com/office/drawing/2014/main" id="{F84F5054-9537-49D5-BCDB-CE3B7AE0C6B1}"/>
              </a:ext>
            </a:extLst>
          </p:cNvPr>
          <p:cNvSpPr>
            <a:spLocks xmlns:a="http://schemas.openxmlformats.org/drawingml/2006/main" noGrp="1"/>
          </p:cNvSpPr>
          <p:nvPr/>
        </p:nvSpPr>
        <p:spPr>
          <a:xfrm xmlns:a="http://schemas.openxmlformats.org/drawingml/2006/main">
            <a:off x="1047750" y="71437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BD9479"/>
                </a:solidFill>
                <a:latin typeface="Poppins Bold"/>
                <a:ea typeface="Poppins Bold"/>
                <a:cs typeface="Poppins Bold"/>
              </a:defRPr>
            </a:pPr>
            <a:r>
              <a:rPr sz="1725" b="1">
                <a:solidFill>
                  <a:srgbClr val="BD9479"/>
                </a:solidFill>
                <a:latin typeface="Poppins Bold"/>
                <a:ea typeface="Poppins Bold"/>
                <a:cs typeface="Poppins Bold"/>
              </a:rPr>
              <a:t>RESOURCES</a:t>
            </a:r>
          </a:p>
        </p:txBody>
      </p:sp>
      <p:sp>
        <p:nvSpPr>
          <p:cNvPr id="20" name="">
            <a:extLst xmlns:a="http://schemas.openxmlformats.org/drawingml/2006/main">
              <a:ext uri="{FF2B5EF4-FFF2-40B4-BE49-F238E27FC236}">
                <a16:creationId xmlns:a16="http://schemas.microsoft.com/office/drawing/2014/main" id="{2DCFD400-D321-4B85-AEF8-E1EA6961E309}"/>
              </a:ext>
            </a:extLst>
          </p:cNvPr>
          <p:cNvSpPr>
            <a:spLocks xmlns:a="http://schemas.openxmlformats.org/drawingml/2006/main" noGrp="1"/>
          </p:cNvSpPr>
          <p:nvPr/>
        </p:nvSpPr>
        <p:spPr>
          <a:xfrm xmlns:a="http://schemas.openxmlformats.org/drawingml/2006/main">
            <a:off x="4000500" y="712470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Shortlist merchandise and determine which activities require budget approval.</a:t>
            </a:r>
          </a:p>
        </p:txBody>
      </p:sp>
      <p:sp>
        <p:nvSpPr>
          <p:cNvPr id="21" name="">
            <a:extLst xmlns:a="http://schemas.openxmlformats.org/drawingml/2006/main">
              <a:ext uri="{FF2B5EF4-FFF2-40B4-BE49-F238E27FC236}">
                <a16:creationId xmlns:a16="http://schemas.microsoft.com/office/drawing/2014/main" id="{64F56966-43E5-426D-85CC-76E795EB93A7}"/>
              </a:ext>
            </a:extLst>
          </p:cNvPr>
          <p:cNvSpPr>
            <a:spLocks xmlns:a="http://schemas.openxmlformats.org/drawingml/2006/main" noGrp="1"/>
          </p:cNvSpPr>
          <p:nvPr/>
        </p:nvSpPr>
        <p:spPr>
          <a:xfrm xmlns:a="http://schemas.openxmlformats.org/drawingml/2006/main">
            <a:off x="11239500" y="78581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800" b="1">
                <a:solidFill>
                  <a:srgbClr val="5B4F47"/>
                </a:solidFill>
                <a:latin typeface="Poppins Bold"/>
                <a:ea typeface="Poppins Bold"/>
                <a:cs typeface="Poppins Bold"/>
              </a:defRPr>
            </a:pPr>
            <a:r>
              <a:rPr sz="1800" b="1">
                <a:solidFill>
                  <a:srgbClr val="5B4F47"/>
                </a:solidFill>
                <a:latin typeface="Poppins Bold"/>
                <a:ea typeface="Poppins Bold"/>
                <a:cs typeface="Poppins Bold"/>
              </a:rPr>
              <a:t>Meeting discipline</a:t>
            </a:r>
          </a:p>
        </p:txBody>
      </p:sp>
      <p:sp>
        <p:nvSpPr>
          <p:cNvPr id="22" name="">
            <a:extLst xmlns:a="http://schemas.openxmlformats.org/drawingml/2006/main">
              <a:ext uri="{FF2B5EF4-FFF2-40B4-BE49-F238E27FC236}">
                <a16:creationId xmlns:a16="http://schemas.microsoft.com/office/drawing/2014/main" id="{7B9F5E7B-B059-4C58-8223-779994090EA1}"/>
              </a:ext>
            </a:extLst>
          </p:cNvPr>
          <p:cNvSpPr>
            <a:spLocks xmlns:a="http://schemas.openxmlformats.org/drawingml/2006/main" noGrp="1"/>
          </p:cNvSpPr>
          <p:nvPr/>
        </p:nvSpPr>
        <p:spPr>
          <a:xfrm xmlns:a="http://schemas.openxmlformats.org/drawingml/2006/main">
            <a:off x="11239500" y="8334375"/>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025">
                <a:solidFill>
                  <a:srgbClr val="745E4D"/>
                </a:solidFill>
                <a:latin typeface="Poppins"/>
                <a:ea typeface="Poppins"/>
                <a:cs typeface="Poppins"/>
              </a:defRPr>
            </a:pPr>
            <a:r>
              <a:rPr sz="2025">
                <a:solidFill>
                  <a:srgbClr val="745E4D"/>
                </a:solidFill>
                <a:latin typeface="Poppins"/>
                <a:ea typeface="Poppins"/>
                <a:cs typeface="Poppins"/>
              </a:rPr>
              <a:t>Record every decision with an owner and due date before the meeting closes.</a:t>
            </a:r>
          </a:p>
        </p:txBody>
      </p:sp>
    </p:spTree>
    <p:extLst>
      <p:ext uri="{BB962C8B-B14F-4D97-AF65-F5344CB8AC3E}">
        <p14:creationId xmlns:p14="http://schemas.microsoft.com/office/powerpoint/2010/main" val="938974190"/>
      </p:ext>
    </p:extLst>
  </p:cSld>
</p:sld>
</file>

<file path=ppt/slides/slide3.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c73d92685814763"/>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f4f803dc0b449be"/>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cd604e173e04192"/>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FDC81779-0E57-482B-9B44-87E3D36320BF}"/>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B2AE1159-11DE-495A-94B6-897C49DAEA31}"/>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D3AFCA92-3CB7-4580-99A6-7A7E4E776F24}"/>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02</a:t>
            </a:r>
          </a:p>
        </p:txBody>
      </p:sp>
      <p:sp>
        <p:nvSpPr>
          <p:cNvPr id="7" name="slide-title">
            <a:extLst xmlns:a="http://schemas.openxmlformats.org/drawingml/2006/main">
              <a:ext uri="{FF2B5EF4-FFF2-40B4-BE49-F238E27FC236}">
                <a16:creationId xmlns:a16="http://schemas.microsoft.com/office/drawing/2014/main" id="{13257EC4-9CA8-4D21-9142-6D9E899997DA}"/>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Next semester activity plan</a:t>
            </a:r>
          </a:p>
        </p:txBody>
      </p:sp>
      <p:sp>
        <p:nvSpPr>
          <p:cNvPr id="8" name="title-rule">
            <a:extLst xmlns:a="http://schemas.openxmlformats.org/drawingml/2006/main">
              <a:ext uri="{FF2B5EF4-FFF2-40B4-BE49-F238E27FC236}">
                <a16:creationId xmlns:a16="http://schemas.microsoft.com/office/drawing/2014/main" id="{BEAD1E83-7182-4753-8245-75CAB3F339C2}"/>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5EAA5F7F-5144-4D1B-9EBE-7F41051D5271}"/>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FF6DCD88-667E-490D-BA9B-D811A19BB485}"/>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3</a:t>
            </a:r>
          </a:p>
        </p:txBody>
      </p:sp>
      <p:sp>
        <p:nvSpPr>
          <p:cNvPr id="11" name="">
            <a:extLst xmlns:a="http://schemas.openxmlformats.org/drawingml/2006/main">
              <a:ext uri="{FF2B5EF4-FFF2-40B4-BE49-F238E27FC236}">
                <a16:creationId xmlns:a16="http://schemas.microsoft.com/office/drawing/2014/main" id="{97F08256-F2F9-4378-9B91-0B46F88B2FDC}"/>
              </a:ext>
            </a:extLst>
          </p:cNvPr>
          <p:cNvSpPr>
            <a:spLocks xmlns:a="http://schemas.openxmlformats.org/drawingml/2006/main" noGrp="1"/>
          </p:cNvSpPr>
          <p:nvPr/>
        </p:nvSpPr>
        <p:spPr>
          <a:xfrm xmlns:a="http://schemas.openxmlformats.org/drawingml/2006/main">
            <a:off x="1047750" y="26670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COMPULSORY PROGRAMME</a:t>
            </a:r>
          </a:p>
        </p:txBody>
      </p:sp>
      <p:sp>
        <p:nvSpPr>
          <p:cNvPr id="12" name="">
            <a:extLst xmlns:a="http://schemas.openxmlformats.org/drawingml/2006/main">
              <a:ext uri="{FF2B5EF4-FFF2-40B4-BE49-F238E27FC236}">
                <a16:creationId xmlns:a16="http://schemas.microsoft.com/office/drawing/2014/main" id="{E367FA13-6E60-45E0-AC59-035AFAC311EB}"/>
              </a:ext>
            </a:extLst>
          </p:cNvPr>
          <p:cNvSpPr>
            <a:spLocks xmlns:a="http://schemas.openxmlformats.org/drawingml/2006/main" noGrp="1"/>
          </p:cNvSpPr>
          <p:nvPr/>
        </p:nvSpPr>
        <p:spPr>
          <a:xfrm xmlns:a="http://schemas.openxmlformats.org/drawingml/2006/main">
            <a:off x="1047750" y="3190875"/>
            <a:ext cx="6572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400"/>
              </a:spcAft>
              <a:buChar char="•"/>
              <a:defRPr sz="2325">
                <a:solidFill>
                  <a:srgbClr val="433831"/>
                </a:solidFill>
                <a:latin typeface="Poppins"/>
                <a:ea typeface="Poppins"/>
                <a:cs typeface="Poppins"/>
              </a:defRPr>
            </a:pPr>
            <a:r>
              <a:rPr sz="2325">
                <a:solidFill>
                  <a:srgbClr val="433831"/>
                </a:solidFill>
                <a:latin typeface="Poppins"/>
                <a:ea typeface="Poppins"/>
                <a:cs typeface="Poppins"/>
              </a:rPr>
              <a:t>Recruitment Drive</a:t>
            </a:r>
          </a:p>
          <a:p xmlns:a="http://schemas.openxmlformats.org/drawingml/2006/main">
            <a:pPr marL="254000" indent="-127000">
              <a:spcAft>
                <a:spcPts val="1400"/>
              </a:spcAft>
              <a:buChar char="•"/>
              <a:defRPr sz="2325">
                <a:solidFill>
                  <a:srgbClr val="433831"/>
                </a:solidFill>
                <a:latin typeface="Poppins"/>
                <a:ea typeface="Poppins"/>
                <a:cs typeface="Poppins"/>
              </a:defRPr>
            </a:pPr>
            <a:r>
              <a:rPr sz="2325">
                <a:solidFill>
                  <a:srgbClr val="433831"/>
                </a:solidFill>
                <a:latin typeface="Poppins"/>
                <a:ea typeface="Poppins"/>
                <a:cs typeface="Poppins"/>
              </a:rPr>
              <a:t>Weekly yoga classes</a:t>
            </a:r>
          </a:p>
          <a:p xmlns:a="http://schemas.openxmlformats.org/drawingml/2006/main">
            <a:pPr marL="254000" indent="-127000">
              <a:spcAft>
                <a:spcPts val="1400"/>
              </a:spcAft>
              <a:buChar char="•"/>
              <a:defRPr sz="2325">
                <a:solidFill>
                  <a:srgbClr val="433831"/>
                </a:solidFill>
                <a:latin typeface="Poppins"/>
                <a:ea typeface="Poppins"/>
                <a:cs typeface="Poppins"/>
              </a:defRPr>
            </a:pPr>
            <a:r>
              <a:rPr sz="2325">
                <a:solidFill>
                  <a:srgbClr val="433831"/>
                </a:solidFill>
                <a:latin typeface="Poppins"/>
                <a:ea typeface="Poppins"/>
                <a:cs typeface="Poppins"/>
              </a:rPr>
              <a:t>Free yoga classes</a:t>
            </a:r>
          </a:p>
        </p:txBody>
      </p:sp>
      <p:sp>
        <p:nvSpPr>
          <p:cNvPr id="13" name="">
            <a:extLst xmlns:a="http://schemas.openxmlformats.org/drawingml/2006/main">
              <a:ext uri="{FF2B5EF4-FFF2-40B4-BE49-F238E27FC236}">
                <a16:creationId xmlns:a16="http://schemas.microsoft.com/office/drawing/2014/main" id="{A0460E36-0FB9-412E-8EAF-4DE8DF646EF9}"/>
              </a:ext>
            </a:extLst>
          </p:cNvPr>
          <p:cNvSpPr>
            <a:spLocks xmlns:a="http://schemas.openxmlformats.org/drawingml/2006/main" noGrp="1"/>
          </p:cNvSpPr>
          <p:nvPr/>
        </p:nvSpPr>
        <p:spPr>
          <a:xfrm xmlns:a="http://schemas.openxmlformats.org/drawingml/2006/main">
            <a:off x="1047750" y="614362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OPTIONS FOR REVIEW</a:t>
            </a:r>
          </a:p>
        </p:txBody>
      </p:sp>
      <p:sp>
        <p:nvSpPr>
          <p:cNvPr id="14" name="">
            <a:extLst xmlns:a="http://schemas.openxmlformats.org/drawingml/2006/main">
              <a:ext uri="{FF2B5EF4-FFF2-40B4-BE49-F238E27FC236}">
                <a16:creationId xmlns:a16="http://schemas.microsoft.com/office/drawing/2014/main" id="{99AEB2C9-EAEB-404E-A56F-422C20B32627}"/>
              </a:ext>
            </a:extLst>
          </p:cNvPr>
          <p:cNvSpPr>
            <a:spLocks xmlns:a="http://schemas.openxmlformats.org/drawingml/2006/main" noGrp="1"/>
          </p:cNvSpPr>
          <p:nvPr/>
        </p:nvSpPr>
        <p:spPr>
          <a:xfrm xmlns:a="http://schemas.openxmlformats.org/drawingml/2006/main">
            <a:off x="1047750" y="6667500"/>
            <a:ext cx="87630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Members’ Night as a reward for regular participants</a:t>
            </a:r>
          </a:p>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One or two meditation sessions, free or paid</a:t>
            </a:r>
          </a:p>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Natural Yoga pilot next semester or from February 2027</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44a5df6708034bd6"/>
          <a:srcRect xmlns:a="http://schemas.openxmlformats.org/drawingml/2006/main" l="17491" t="0" r="17491" b="0"/>
          <a:stretch xmlns:a="http://schemas.openxmlformats.org/drawingml/2006/main">
            <a:fillRect l="0" t="0" r="0" b="0"/>
          </a:stretch>
        </p:blipFill>
        <p:spPr>
          <a:xfrm xmlns:a="http://schemas.openxmlformats.org/drawingml/2006/main">
            <a:off x="11049000" y="2667000"/>
            <a:ext cx="5905500" cy="4762500"/>
          </a:xfrm>
          <a:prstGeom xmlns:a="http://schemas.openxmlformats.org/drawingml/2006/main" prst="ellipse">
            <a:avLst/>
          </a:prstGeom>
        </p:spPr>
      </p:pic>
      <p:sp>
        <p:nvSpPr>
          <p:cNvPr id="16" name="">
            <a:extLst xmlns:a="http://schemas.openxmlformats.org/drawingml/2006/main">
              <a:ext uri="{FF2B5EF4-FFF2-40B4-BE49-F238E27FC236}">
                <a16:creationId xmlns:a16="http://schemas.microsoft.com/office/drawing/2014/main" id="{DFC7A9E8-3D0E-44D9-9FFC-A1B17C4C30DF}"/>
              </a:ext>
            </a:extLst>
          </p:cNvPr>
          <p:cNvSpPr>
            <a:spLocks xmlns:a="http://schemas.openxmlformats.org/drawingml/2006/main" noGrp="1"/>
          </p:cNvSpPr>
          <p:nvPr/>
        </p:nvSpPr>
        <p:spPr>
          <a:xfrm xmlns:a="http://schemas.openxmlformats.org/drawingml/2006/main">
            <a:off x="11477625" y="7858125"/>
            <a:ext cx="1619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4125" b="1">
                <a:solidFill>
                  <a:srgbClr val="BD9479"/>
                </a:solidFill>
                <a:latin typeface="Poppins Bold"/>
                <a:ea typeface="Poppins Bold"/>
                <a:cs typeface="Poppins Bold"/>
              </a:defRPr>
            </a:pPr>
            <a:r>
              <a:rPr sz="4125" b="1">
                <a:solidFill>
                  <a:srgbClr val="BD9479"/>
                </a:solidFill>
                <a:latin typeface="Poppins Bold"/>
                <a:ea typeface="Poppins Bold"/>
                <a:cs typeface="Poppins Bold"/>
              </a:rPr>
              <a:t>6–8</a:t>
            </a:r>
          </a:p>
        </p:txBody>
      </p:sp>
      <p:sp>
        <p:nvSpPr>
          <p:cNvPr id="17" name="">
            <a:extLst xmlns:a="http://schemas.openxmlformats.org/drawingml/2006/main">
              <a:ext uri="{FF2B5EF4-FFF2-40B4-BE49-F238E27FC236}">
                <a16:creationId xmlns:a16="http://schemas.microsoft.com/office/drawing/2014/main" id="{D7FE82E3-30AE-43DC-AD42-A80C754245FB}"/>
              </a:ext>
            </a:extLst>
          </p:cNvPr>
          <p:cNvSpPr>
            <a:spLocks xmlns:a="http://schemas.openxmlformats.org/drawingml/2006/main" noGrp="1"/>
          </p:cNvSpPr>
          <p:nvPr/>
        </p:nvSpPr>
        <p:spPr>
          <a:xfrm xmlns:a="http://schemas.openxmlformats.org/drawingml/2006/main">
            <a:off x="13049250" y="7848600"/>
            <a:ext cx="4000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800">
                <a:solidFill>
                  <a:srgbClr val="433831"/>
                </a:solidFill>
                <a:latin typeface="Poppins"/>
                <a:ea typeface="Poppins"/>
                <a:cs typeface="Poppins"/>
              </a:defRPr>
            </a:pPr>
            <a:r>
              <a:rPr sz="1800">
                <a:solidFill>
                  <a:srgbClr val="433831"/>
                </a:solidFill>
                <a:latin typeface="Poppins"/>
                <a:ea typeface="Poppins"/>
                <a:cs typeface="Poppins"/>
              </a:rPr>
              <a:t>additional practical sessions during a long semester, scheduled around common free hours and certification needs</a:t>
            </a:r>
          </a:p>
        </p:txBody>
      </p:sp>
    </p:spTree>
    <p:extLst>
      <p:ext uri="{BB962C8B-B14F-4D97-AF65-F5344CB8AC3E}">
        <p14:creationId xmlns:p14="http://schemas.microsoft.com/office/powerpoint/2010/main" val="1011713174"/>
      </p:ext>
    </p:extLst>
  </p:cSld>
</p:sld>
</file>

<file path=ppt/slides/slide4.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ec93710fa584bd6"/>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ef53a7b830f49d5"/>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221c5e975074520"/>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B856E55A-AAE6-43EB-B759-C4B16825DA25}"/>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EA5B4890-A95D-455D-AC3E-5A647049B815}"/>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F71BD899-1A33-4B38-B622-EF7A94F93948}"/>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03</a:t>
            </a:r>
          </a:p>
        </p:txBody>
      </p:sp>
      <p:sp>
        <p:nvSpPr>
          <p:cNvPr id="7" name="slide-title">
            <a:extLst xmlns:a="http://schemas.openxmlformats.org/drawingml/2006/main">
              <a:ext uri="{FF2B5EF4-FFF2-40B4-BE49-F238E27FC236}">
                <a16:creationId xmlns:a16="http://schemas.microsoft.com/office/drawing/2014/main" id="{69CE4E6D-6499-41DA-99A7-333A61C71A24}"/>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October Recruitment Drive</a:t>
            </a:r>
          </a:p>
        </p:txBody>
      </p:sp>
      <p:sp>
        <p:nvSpPr>
          <p:cNvPr id="8" name="title-rule">
            <a:extLst xmlns:a="http://schemas.openxmlformats.org/drawingml/2006/main">
              <a:ext uri="{FF2B5EF4-FFF2-40B4-BE49-F238E27FC236}">
                <a16:creationId xmlns:a16="http://schemas.microsoft.com/office/drawing/2014/main" id="{B080F4E0-9897-40A5-8D90-CA97E3D65EA7}"/>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DB6F3D1E-3351-4D51-97BE-145EB27C8B18}"/>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B5AA133A-9A34-492A-8F72-AADF2EDC8840}"/>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4</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264561b3c3f425c"/>
          <a:srcRect xmlns:a="http://schemas.openxmlformats.org/drawingml/2006/main" l="14481" t="0" r="14481" b="0"/>
          <a:stretch xmlns:a="http://schemas.openxmlformats.org/drawingml/2006/main">
            <a:fillRect l="0" t="0" r="0" b="0"/>
          </a:stretch>
        </p:blipFill>
        <p:spPr>
          <a:xfrm xmlns:a="http://schemas.openxmlformats.org/drawingml/2006/main">
            <a:off x="10953750" y="2524125"/>
            <a:ext cx="6191250" cy="5810250"/>
          </a:xfrm>
          <a:prstGeom xmlns:a="http://schemas.openxmlformats.org/drawingml/2006/main" prst="roundRect">
            <a:avLst>
              <a:gd name="adj" fmla="val 2623"/>
            </a:avLst>
          </a:prstGeom>
        </p:spPr>
      </p:pic>
      <p:sp>
        <p:nvSpPr>
          <p:cNvPr id="12" name="">
            <a:extLst xmlns:a="http://schemas.openxmlformats.org/drawingml/2006/main">
              <a:ext uri="{FF2B5EF4-FFF2-40B4-BE49-F238E27FC236}">
                <a16:creationId xmlns:a16="http://schemas.microsoft.com/office/drawing/2014/main" id="{6927619E-A5F6-41FB-A1B9-2BDD9F1653DB}"/>
              </a:ext>
            </a:extLst>
          </p:cNvPr>
          <p:cNvSpPr>
            <a:spLocks xmlns:a="http://schemas.openxmlformats.org/drawingml/2006/main" noGrp="1"/>
          </p:cNvSpPr>
          <p:nvPr/>
        </p:nvSpPr>
        <p:spPr>
          <a:xfrm xmlns:a="http://schemas.openxmlformats.org/drawingml/2006/main">
            <a:off x="1047750" y="26670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PROMOTION CONTENT</a:t>
            </a:r>
          </a:p>
        </p:txBody>
      </p:sp>
      <p:sp>
        <p:nvSpPr>
          <p:cNvPr id="13" name="">
            <a:extLst xmlns:a="http://schemas.openxmlformats.org/drawingml/2006/main">
              <a:ext uri="{FF2B5EF4-FFF2-40B4-BE49-F238E27FC236}">
                <a16:creationId xmlns:a16="http://schemas.microsoft.com/office/drawing/2014/main" id="{E5F9CFDB-D84C-4B65-926E-1FD445325BFC}"/>
              </a:ext>
            </a:extLst>
          </p:cNvPr>
          <p:cNvSpPr>
            <a:spLocks xmlns:a="http://schemas.openxmlformats.org/drawingml/2006/main" noGrp="1"/>
          </p:cNvSpPr>
          <p:nvPr/>
        </p:nvSpPr>
        <p:spPr>
          <a:xfrm xmlns:a="http://schemas.openxmlformats.org/drawingml/2006/main">
            <a:off x="1047750" y="3190875"/>
            <a:ext cx="8477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000"/>
              </a:spcAft>
              <a:buChar char="•"/>
              <a:defRPr sz="2175">
                <a:solidFill>
                  <a:srgbClr val="433831"/>
                </a:solidFill>
                <a:latin typeface="Poppins"/>
                <a:ea typeface="Poppins"/>
                <a:cs typeface="Poppins"/>
              </a:defRPr>
            </a:pPr>
            <a:r>
              <a:rPr sz="2175">
                <a:solidFill>
                  <a:srgbClr val="433831"/>
                </a:solidFill>
                <a:latin typeface="Poppins"/>
                <a:ea typeface="Poppins"/>
                <a:cs typeface="Poppins"/>
              </a:rPr>
              <a:t>Club merchandise and lucky draw</a:t>
            </a:r>
          </a:p>
          <a:p xmlns:a="http://schemas.openxmlformats.org/drawingml/2006/main">
            <a:pPr marL="254000" indent="-127000">
              <a:spcAft>
                <a:spcPts val="1000"/>
              </a:spcAft>
              <a:buChar char="•"/>
              <a:defRPr sz="2175">
                <a:solidFill>
                  <a:srgbClr val="433831"/>
                </a:solidFill>
                <a:latin typeface="Poppins"/>
                <a:ea typeface="Poppins"/>
                <a:cs typeface="Poppins"/>
              </a:defRPr>
            </a:pPr>
            <a:r>
              <a:rPr sz="2175">
                <a:solidFill>
                  <a:srgbClr val="433831"/>
                </a:solidFill>
                <a:latin typeface="Poppins"/>
                <a:ea typeface="Poppins"/>
                <a:cs typeface="Poppins"/>
              </a:rPr>
              <a:t>Weekly-class certification</a:t>
            </a:r>
          </a:p>
          <a:p xmlns:a="http://schemas.openxmlformats.org/drawingml/2006/main">
            <a:pPr marL="254000" indent="-127000">
              <a:spcAft>
                <a:spcPts val="1000"/>
              </a:spcAft>
              <a:buChar char="•"/>
              <a:defRPr sz="2175">
                <a:solidFill>
                  <a:srgbClr val="433831"/>
                </a:solidFill>
                <a:latin typeface="Poppins"/>
                <a:ea typeface="Poppins"/>
                <a:cs typeface="Poppins"/>
              </a:defRPr>
            </a:pPr>
            <a:r>
              <a:rPr sz="2175">
                <a:solidFill>
                  <a:srgbClr val="433831"/>
                </a:solidFill>
                <a:latin typeface="Poppins"/>
                <a:ea typeface="Poppins"/>
                <a:cs typeface="Poppins"/>
              </a:rPr>
              <a:t>Members’ Night after the October free class, if confirmed</a:t>
            </a:r>
          </a:p>
          <a:p xmlns:a="http://schemas.openxmlformats.org/drawingml/2006/main">
            <a:pPr marL="254000" indent="-127000">
              <a:spcAft>
                <a:spcPts val="1000"/>
              </a:spcAft>
              <a:buChar char="•"/>
              <a:defRPr sz="2175">
                <a:solidFill>
                  <a:srgbClr val="433831"/>
                </a:solidFill>
                <a:latin typeface="Poppins"/>
                <a:ea typeface="Poppins"/>
                <a:cs typeface="Poppins"/>
              </a:defRPr>
            </a:pPr>
            <a:r>
              <a:rPr sz="2175">
                <a:solidFill>
                  <a:srgbClr val="433831"/>
                </a:solidFill>
                <a:latin typeface="Poppins"/>
                <a:ea typeface="Poppins"/>
                <a:cs typeface="Poppins"/>
              </a:rPr>
              <a:t>Possible benefits include food, health-oriented gifts and participant feedback</a:t>
            </a:r>
          </a:p>
        </p:txBody>
      </p:sp>
      <p:sp>
        <p:nvSpPr>
          <p:cNvPr id="14" name="">
            <a:extLst xmlns:a="http://schemas.openxmlformats.org/drawingml/2006/main">
              <a:ext uri="{FF2B5EF4-FFF2-40B4-BE49-F238E27FC236}">
                <a16:creationId xmlns:a16="http://schemas.microsoft.com/office/drawing/2014/main" id="{38A64FE2-6928-464A-8482-4260EEC05FA8}"/>
              </a:ext>
            </a:extLst>
          </p:cNvPr>
          <p:cNvSpPr>
            <a:spLocks xmlns:a="http://schemas.openxmlformats.org/drawingml/2006/main" noGrp="1"/>
          </p:cNvSpPr>
          <p:nvPr/>
        </p:nvSpPr>
        <p:spPr>
          <a:xfrm xmlns:a="http://schemas.openxmlformats.org/drawingml/2006/main">
            <a:off x="1047750" y="60960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OFFERS AND RECRUITMENT</a:t>
            </a:r>
          </a:p>
        </p:txBody>
      </p:sp>
      <p:sp>
        <p:nvSpPr>
          <p:cNvPr id="15" name="">
            <a:extLst xmlns:a="http://schemas.openxmlformats.org/drawingml/2006/main">
              <a:ext uri="{FF2B5EF4-FFF2-40B4-BE49-F238E27FC236}">
                <a16:creationId xmlns:a16="http://schemas.microsoft.com/office/drawing/2014/main" id="{A22B6037-61E4-4CD5-BB3F-3A313FC02087}"/>
              </a:ext>
            </a:extLst>
          </p:cNvPr>
          <p:cNvSpPr>
            <a:spLocks xmlns:a="http://schemas.openxmlformats.org/drawingml/2006/main" noGrp="1"/>
          </p:cNvSpPr>
          <p:nvPr/>
        </p:nvSpPr>
        <p:spPr>
          <a:xfrm xmlns:a="http://schemas.openxmlformats.org/drawingml/2006/main">
            <a:off x="1047750" y="6619875"/>
            <a:ext cx="885825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800"/>
              </a:spcAft>
              <a:buChar char="•"/>
              <a:defRPr sz="1950">
                <a:solidFill>
                  <a:srgbClr val="433831"/>
                </a:solidFill>
                <a:latin typeface="Poppins"/>
                <a:ea typeface="Poppins"/>
                <a:cs typeface="Poppins"/>
              </a:defRPr>
            </a:pPr>
            <a:r>
              <a:rPr sz="1950">
                <a:solidFill>
                  <a:srgbClr val="433831"/>
                </a:solidFill>
                <a:latin typeface="Poppins"/>
                <a:ea typeface="Poppins"/>
                <a:cs typeface="Poppins"/>
              </a:rPr>
              <a:t>Review a free first class for first-time participants</a:t>
            </a:r>
          </a:p>
          <a:p xmlns:a="http://schemas.openxmlformats.org/drawingml/2006/main">
            <a:pPr marL="254000" indent="-127000">
              <a:spcAft>
                <a:spcPts val="800"/>
              </a:spcAft>
              <a:buChar char="•"/>
              <a:defRPr sz="1950">
                <a:solidFill>
                  <a:srgbClr val="433831"/>
                </a:solidFill>
                <a:latin typeface="Poppins"/>
                <a:ea typeface="Poppins"/>
                <a:cs typeface="Poppins"/>
              </a:defRPr>
            </a:pPr>
            <a:r>
              <a:rPr sz="1950">
                <a:solidFill>
                  <a:srgbClr val="433831"/>
                </a:solidFill>
                <a:latin typeface="Poppins"/>
                <a:ea typeface="Poppins"/>
                <a:cs typeface="Poppins"/>
              </a:rPr>
              <a:t>Review fee waivers for members who bring new participants</a:t>
            </a:r>
          </a:p>
          <a:p xmlns:a="http://schemas.openxmlformats.org/drawingml/2006/main">
            <a:pPr marL="254000" indent="-127000">
              <a:spcAft>
                <a:spcPts val="800"/>
              </a:spcAft>
              <a:buChar char="•"/>
              <a:defRPr sz="1950">
                <a:solidFill>
                  <a:srgbClr val="433831"/>
                </a:solidFill>
                <a:latin typeface="Poppins"/>
                <a:ea typeface="Poppins"/>
                <a:cs typeface="Poppins"/>
              </a:defRPr>
            </a:pPr>
            <a:r>
              <a:rPr sz="1950">
                <a:solidFill>
                  <a:srgbClr val="433831"/>
                </a:solidFill>
                <a:latin typeface="Poppins"/>
                <a:ea typeface="Poppins"/>
                <a:cs typeface="Poppins"/>
              </a:rPr>
              <a:t>Recruit the vacant Vice Treasurer during the drive</a:t>
            </a:r>
          </a:p>
          <a:p xmlns:a="http://schemas.openxmlformats.org/drawingml/2006/main">
            <a:pPr marL="254000" indent="-127000">
              <a:spcAft>
                <a:spcPts val="800"/>
              </a:spcAft>
              <a:buChar char="•"/>
              <a:defRPr sz="1950">
                <a:solidFill>
                  <a:srgbClr val="433831"/>
                </a:solidFill>
                <a:latin typeface="Poppins"/>
                <a:ea typeface="Poppins"/>
                <a:cs typeface="Poppins"/>
              </a:defRPr>
            </a:pPr>
            <a:r>
              <a:rPr sz="1950">
                <a:solidFill>
                  <a:srgbClr val="433831"/>
                </a:solidFill>
                <a:latin typeface="Poppins"/>
                <a:ea typeface="Poppins"/>
                <a:cs typeface="Poppins"/>
              </a:rPr>
              <a:t>Collect participant and member feedback after the activity</a:t>
            </a:r>
          </a:p>
        </p:txBody>
      </p:sp>
    </p:spTree>
    <p:extLst>
      <p:ext uri="{BB962C8B-B14F-4D97-AF65-F5344CB8AC3E}">
        <p14:creationId xmlns:p14="http://schemas.microsoft.com/office/powerpoint/2010/main" val="182051586"/>
      </p:ext>
    </p:extLst>
  </p:cSld>
</p:sld>
</file>

<file path=ppt/slides/slide5.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55715de32834099"/>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1e230707c1d4f75"/>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81a8b0e3e1d43e0"/>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7193AC56-B791-48AA-A714-F1A97EC2AD31}"/>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2770D6B5-2D08-4AFA-9F20-F34DC9DF9FEE}"/>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F429AEE5-71B1-44B4-8790-3E3BFF0D8FB0}"/>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04</a:t>
            </a:r>
          </a:p>
        </p:txBody>
      </p:sp>
      <p:sp>
        <p:nvSpPr>
          <p:cNvPr id="7" name="slide-title">
            <a:extLst xmlns:a="http://schemas.openxmlformats.org/drawingml/2006/main">
              <a:ext uri="{FF2B5EF4-FFF2-40B4-BE49-F238E27FC236}">
                <a16:creationId xmlns:a16="http://schemas.microsoft.com/office/drawing/2014/main" id="{71B4E4A3-E5EE-427D-BBF3-B757DF9F72FE}"/>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Secretarial deliverables and records</a:t>
            </a:r>
          </a:p>
        </p:txBody>
      </p:sp>
      <p:sp>
        <p:nvSpPr>
          <p:cNvPr id="8" name="title-rule">
            <a:extLst xmlns:a="http://schemas.openxmlformats.org/drawingml/2006/main">
              <a:ext uri="{FF2B5EF4-FFF2-40B4-BE49-F238E27FC236}">
                <a16:creationId xmlns:a16="http://schemas.microsoft.com/office/drawing/2014/main" id="{98DAAB8F-99C8-4714-88A0-6C6C07073E42}"/>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F6A0E818-EE86-40F3-A96C-4BB71164CA27}"/>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A72607E4-BC09-4586-9671-9B7CA91CDBC7}"/>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5</a:t>
            </a:r>
          </a:p>
        </p:txBody>
      </p:sp>
      <p:sp>
        <p:nvSpPr>
          <p:cNvPr id="11" name="">
            <a:extLst xmlns:a="http://schemas.openxmlformats.org/drawingml/2006/main">
              <a:ext uri="{FF2B5EF4-FFF2-40B4-BE49-F238E27FC236}">
                <a16:creationId xmlns:a16="http://schemas.microsoft.com/office/drawing/2014/main" id="{B5F44BDA-BCE6-43F8-8E0F-7A843C02B4F1}"/>
              </a:ext>
            </a:extLst>
          </p:cNvPr>
          <p:cNvSpPr>
            <a:spLocks xmlns:a="http://schemas.openxmlformats.org/drawingml/2006/main" noGrp="1"/>
          </p:cNvSpPr>
          <p:nvPr/>
        </p:nvSpPr>
        <p:spPr>
          <a:xfrm xmlns:a="http://schemas.openxmlformats.org/drawingml/2006/main">
            <a:off x="1047750" y="261937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BEFORE EACH ACTIVITY</a:t>
            </a:r>
          </a:p>
        </p:txBody>
      </p:sp>
      <p:sp>
        <p:nvSpPr>
          <p:cNvPr id="12" name="">
            <a:extLst xmlns:a="http://schemas.openxmlformats.org/drawingml/2006/main">
              <a:ext uri="{FF2B5EF4-FFF2-40B4-BE49-F238E27FC236}">
                <a16:creationId xmlns:a16="http://schemas.microsoft.com/office/drawing/2014/main" id="{24134D56-2E70-46E0-9117-C7AE2DDA4F83}"/>
              </a:ext>
            </a:extLst>
          </p:cNvPr>
          <p:cNvSpPr>
            <a:spLocks xmlns:a="http://schemas.openxmlformats.org/drawingml/2006/main" noGrp="1"/>
          </p:cNvSpPr>
          <p:nvPr/>
        </p:nvSpPr>
        <p:spPr>
          <a:xfrm xmlns:a="http://schemas.openxmlformats.org/drawingml/2006/main">
            <a:off x="1047750" y="3143250"/>
            <a:ext cx="7810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Prepare one proposal for every activity where required</a:t>
            </a:r>
          </a:p>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Cover objectives, schedule, venue, budget, publicity, registration and approvals</a:t>
            </a:r>
          </a:p>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Submit before the activity and within the required timeline</a:t>
            </a:r>
          </a:p>
        </p:txBody>
      </p:sp>
      <p:sp>
        <p:nvSpPr>
          <p:cNvPr id="13" name="">
            <a:extLst xmlns:a="http://schemas.openxmlformats.org/drawingml/2006/main">
              <a:ext uri="{FF2B5EF4-FFF2-40B4-BE49-F238E27FC236}">
                <a16:creationId xmlns:a16="http://schemas.microsoft.com/office/drawing/2014/main" id="{7714A34E-9204-435C-A80C-D05CE06091F2}"/>
              </a:ext>
            </a:extLst>
          </p:cNvPr>
          <p:cNvSpPr>
            <a:spLocks xmlns:a="http://schemas.openxmlformats.org/drawingml/2006/main" noGrp="1"/>
          </p:cNvSpPr>
          <p:nvPr/>
        </p:nvSpPr>
        <p:spPr>
          <a:xfrm xmlns:a="http://schemas.openxmlformats.org/drawingml/2006/main">
            <a:off x="1047750" y="633412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BY WEEK 14</a:t>
            </a:r>
          </a:p>
        </p:txBody>
      </p:sp>
      <p:sp>
        <p:nvSpPr>
          <p:cNvPr id="14" name="">
            <a:extLst xmlns:a="http://schemas.openxmlformats.org/drawingml/2006/main">
              <a:ext uri="{FF2B5EF4-FFF2-40B4-BE49-F238E27FC236}">
                <a16:creationId xmlns:a16="http://schemas.microsoft.com/office/drawing/2014/main" id="{F4509714-400A-4D80-BC5C-148C3EA01588}"/>
              </a:ext>
            </a:extLst>
          </p:cNvPr>
          <p:cNvSpPr>
            <a:spLocks xmlns:a="http://schemas.openxmlformats.org/drawingml/2006/main" noGrp="1"/>
          </p:cNvSpPr>
          <p:nvPr/>
        </p:nvSpPr>
        <p:spPr>
          <a:xfrm xmlns:a="http://schemas.openxmlformats.org/drawingml/2006/main">
            <a:off x="1047750" y="6858000"/>
            <a:ext cx="8096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000"/>
              </a:spcAft>
              <a:buChar char="•"/>
              <a:defRPr sz="1950">
                <a:solidFill>
                  <a:srgbClr val="433831"/>
                </a:solidFill>
                <a:latin typeface="Poppins"/>
                <a:ea typeface="Poppins"/>
                <a:cs typeface="Poppins"/>
              </a:defRPr>
            </a:pPr>
            <a:r>
              <a:rPr sz="1950">
                <a:solidFill>
                  <a:srgbClr val="433831"/>
                </a:solidFill>
                <a:latin typeface="Poppins"/>
                <a:ea typeface="Poppins"/>
                <a:cs typeface="Poppins"/>
              </a:rPr>
              <a:t>Complete reports for weekly classes, the Recruitment Drive, both EXCO meetings and the free yoga class</a:t>
            </a:r>
          </a:p>
          <a:p xmlns:a="http://schemas.openxmlformats.org/drawingml/2006/main">
            <a:pPr marL="254000" indent="-127000">
              <a:spcAft>
                <a:spcPts val="1000"/>
              </a:spcAft>
              <a:buChar char="•"/>
              <a:defRPr sz="1950">
                <a:solidFill>
                  <a:srgbClr val="433831"/>
                </a:solidFill>
                <a:latin typeface="Poppins"/>
                <a:ea typeface="Poppins"/>
                <a:cs typeface="Poppins"/>
              </a:defRPr>
            </a:pPr>
            <a:r>
              <a:rPr sz="1950">
                <a:solidFill>
                  <a:srgbClr val="433831"/>
                </a:solidFill>
                <a:latin typeface="Poppins"/>
                <a:ea typeface="Poppins"/>
                <a:cs typeface="Poppins"/>
              </a:rPr>
              <a:t>Include Office Bearers and any other reportable activities or matters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d0e1fb26f45495a"/>
          <a:srcRect xmlns:a="http://schemas.openxmlformats.org/drawingml/2006/main" l="0" t="10000" r="0" b="10000"/>
          <a:stretch xmlns:a="http://schemas.openxmlformats.org/drawingml/2006/main">
            <a:fillRect l="0" t="0" r="0" b="0"/>
          </a:stretch>
        </p:blipFill>
        <p:spPr>
          <a:xfrm xmlns:a="http://schemas.openxmlformats.org/drawingml/2006/main">
            <a:off x="10668000" y="2571750"/>
            <a:ext cx="6191250" cy="3714750"/>
          </a:xfrm>
          <a:prstGeom xmlns:a="http://schemas.openxmlformats.org/drawingml/2006/main" prst="roundRect">
            <a:avLst>
              <a:gd name="adj" fmla="val 4103"/>
            </a:avLst>
          </a:prstGeom>
        </p:spPr>
      </p:pic>
      <p:sp>
        <p:nvSpPr>
          <p:cNvPr id="16" name="">
            <a:extLst xmlns:a="http://schemas.openxmlformats.org/drawingml/2006/main">
              <a:ext uri="{FF2B5EF4-FFF2-40B4-BE49-F238E27FC236}">
                <a16:creationId xmlns:a16="http://schemas.microsoft.com/office/drawing/2014/main" id="{C5F7DC9B-C642-4F3A-B60A-00B825C8F1ED}"/>
              </a:ext>
            </a:extLst>
          </p:cNvPr>
          <p:cNvSpPr>
            <a:spLocks xmlns:a="http://schemas.openxmlformats.org/drawingml/2006/main" noGrp="1"/>
          </p:cNvSpPr>
          <p:nvPr/>
        </p:nvSpPr>
        <p:spPr>
          <a:xfrm xmlns:a="http://schemas.openxmlformats.org/drawingml/2006/main">
            <a:off x="10668000" y="67151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CONTROL RECORD</a:t>
            </a:r>
          </a:p>
        </p:txBody>
      </p:sp>
      <p:sp>
        <p:nvSpPr>
          <p:cNvPr id="17" name="">
            <a:extLst xmlns:a="http://schemas.openxmlformats.org/drawingml/2006/main">
              <a:ext uri="{FF2B5EF4-FFF2-40B4-BE49-F238E27FC236}">
                <a16:creationId xmlns:a16="http://schemas.microsoft.com/office/drawing/2014/main" id="{590B9A99-8600-4EEC-859B-18FEC9308478}"/>
              </a:ext>
            </a:extLst>
          </p:cNvPr>
          <p:cNvSpPr>
            <a:spLocks xmlns:a="http://schemas.openxmlformats.org/drawingml/2006/main" noGrp="1"/>
          </p:cNvSpPr>
          <p:nvPr/>
        </p:nvSpPr>
        <p:spPr>
          <a:xfrm xmlns:a="http://schemas.openxmlformats.org/drawingml/2006/main">
            <a:off x="10668000" y="7191375"/>
            <a:ext cx="5905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700"/>
              </a:spcAft>
              <a:buChar char="•"/>
              <a:defRPr sz="1800">
                <a:solidFill>
                  <a:srgbClr val="433831"/>
                </a:solidFill>
                <a:latin typeface="Poppins"/>
                <a:ea typeface="Poppins"/>
                <a:cs typeface="Poppins"/>
              </a:defRPr>
            </a:pPr>
            <a:r>
              <a:rPr sz="1800">
                <a:solidFill>
                  <a:srgbClr val="433831"/>
                </a:solidFill>
                <a:latin typeface="Poppins"/>
                <a:ea typeface="Poppins"/>
                <a:cs typeface="Poppins"/>
              </a:rPr>
              <a:t>Maintain a completed and outstanding checklist</a:t>
            </a:r>
          </a:p>
          <a:p xmlns:a="http://schemas.openxmlformats.org/drawingml/2006/main">
            <a:pPr marL="254000" indent="-127000">
              <a:spcAft>
                <a:spcPts val="700"/>
              </a:spcAft>
              <a:buChar char="•"/>
              <a:defRPr sz="1800">
                <a:solidFill>
                  <a:srgbClr val="433831"/>
                </a:solidFill>
                <a:latin typeface="Poppins"/>
                <a:ea typeface="Poppins"/>
                <a:cs typeface="Poppins"/>
              </a:defRPr>
            </a:pPr>
            <a:r>
              <a:rPr sz="1800">
                <a:solidFill>
                  <a:srgbClr val="433831"/>
                </a:solidFill>
                <a:latin typeface="Poppins"/>
                <a:ea typeface="Poppins"/>
                <a:cs typeface="Poppins"/>
              </a:rPr>
              <a:t>Record student coach service hours and attendance</a:t>
            </a:r>
          </a:p>
          <a:p xmlns:a="http://schemas.openxmlformats.org/drawingml/2006/main">
            <a:pPr marL="254000" indent="-127000">
              <a:spcAft>
                <a:spcPts val="700"/>
              </a:spcAft>
              <a:buChar char="•"/>
              <a:defRPr sz="1800">
                <a:solidFill>
                  <a:srgbClr val="433831"/>
                </a:solidFill>
                <a:latin typeface="Poppins"/>
                <a:ea typeface="Poppins"/>
                <a:cs typeface="Poppins"/>
              </a:defRPr>
            </a:pPr>
            <a:r>
              <a:rPr sz="1800">
                <a:solidFill>
                  <a:srgbClr val="433831"/>
                </a:solidFill>
                <a:latin typeface="Poppins"/>
                <a:ea typeface="Poppins"/>
                <a:cs typeface="Poppins"/>
              </a:rPr>
              <a:t>Review whether the club website can support traceability</a:t>
            </a:r>
          </a:p>
        </p:txBody>
      </p:sp>
    </p:spTree>
    <p:extLst>
      <p:ext uri="{BB962C8B-B14F-4D97-AF65-F5344CB8AC3E}">
        <p14:creationId xmlns:p14="http://schemas.microsoft.com/office/powerpoint/2010/main" val="875498245"/>
      </p:ext>
    </p:extLst>
  </p:cSld>
</p:sld>
</file>

<file path=ppt/slides/slide6.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1c7c576d3424823"/>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a2c2c264fd64268"/>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2a4cfcf21e54fd2"/>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D3D747AC-1AF7-4ADC-B5EF-AFDC5A1B96A9}"/>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08C2B8CF-DB60-4C01-A6F1-BF893C6B4BEC}"/>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ED7A030A-A9A0-493F-866E-C01208A8BBA0}"/>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05</a:t>
            </a:r>
          </a:p>
        </p:txBody>
      </p:sp>
      <p:sp>
        <p:nvSpPr>
          <p:cNvPr id="7" name="slide-title">
            <a:extLst xmlns:a="http://schemas.openxmlformats.org/drawingml/2006/main">
              <a:ext uri="{FF2B5EF4-FFF2-40B4-BE49-F238E27FC236}">
                <a16:creationId xmlns:a16="http://schemas.microsoft.com/office/drawing/2014/main" id="{75465781-3DF0-4ECE-98AF-D70EAAE55FDE}"/>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Treasury policy and documentation</a:t>
            </a:r>
          </a:p>
        </p:txBody>
      </p:sp>
      <p:sp>
        <p:nvSpPr>
          <p:cNvPr id="8" name="title-rule">
            <a:extLst xmlns:a="http://schemas.openxmlformats.org/drawingml/2006/main">
              <a:ext uri="{FF2B5EF4-FFF2-40B4-BE49-F238E27FC236}">
                <a16:creationId xmlns:a16="http://schemas.microsoft.com/office/drawing/2014/main" id="{41A25B19-96EA-40D6-A11B-AC111C498DDB}"/>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A6C50C7D-0F5A-4831-98BA-1AEDBDC9676F}"/>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8A4AAC4D-2791-4B99-8BDB-B9FA56FA52C2}"/>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6</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997a2d4885e406b"/>
          <a:stretch xmlns:a="http://schemas.openxmlformats.org/drawingml/2006/main"/>
        </p:blipFill>
        <p:spPr>
          <a:xfrm xmlns:a="http://schemas.openxmlformats.org/drawingml/2006/main">
            <a:off x="11049000" y="3247564"/>
            <a:ext cx="5334000" cy="4363372"/>
          </a:xfrm>
          <a:prstGeom xmlns:a="http://schemas.openxmlformats.org/drawingml/2006/main" prst="ellipse">
            <a:avLst/>
          </a:prstGeom>
        </p:spPr>
      </p:pic>
      <p:sp>
        <p:nvSpPr>
          <p:cNvPr id="12" name="">
            <a:extLst xmlns:a="http://schemas.openxmlformats.org/drawingml/2006/main">
              <a:ext uri="{FF2B5EF4-FFF2-40B4-BE49-F238E27FC236}">
                <a16:creationId xmlns:a16="http://schemas.microsoft.com/office/drawing/2014/main" id="{8DC061DB-9AB4-47B5-9B14-D951621B58B2}"/>
              </a:ext>
            </a:extLst>
          </p:cNvPr>
          <p:cNvSpPr>
            <a:spLocks xmlns:a="http://schemas.openxmlformats.org/drawingml/2006/main" noGrp="1"/>
          </p:cNvSpPr>
          <p:nvPr/>
        </p:nvSpPr>
        <p:spPr>
          <a:xfrm xmlns:a="http://schemas.openxmlformats.org/drawingml/2006/main">
            <a:off x="1047750" y="2762250"/>
            <a:ext cx="8763000" cy="595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9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Establish a treasury policy and supporting documentation for every event</a:t>
            </a:r>
          </a:p>
          <a:p xmlns:a="http://schemas.openxmlformats.org/drawingml/2006/main">
            <a:pPr marL="254000" indent="-127000">
              <a:spcAft>
                <a:spcPts val="9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Maintain complete financial records for events and weekly classes</a:t>
            </a:r>
          </a:p>
          <a:p xmlns:a="http://schemas.openxmlformats.org/drawingml/2006/main">
            <a:pPr marL="254000" indent="-127000">
              <a:spcAft>
                <a:spcPts val="9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Pass confirmed financial arrangements to the Secretary and Publicity team</a:t>
            </a:r>
          </a:p>
          <a:p xmlns:a="http://schemas.openxmlformats.org/drawingml/2006/main">
            <a:pPr marL="254000" indent="-127000">
              <a:spcAft>
                <a:spcPts val="9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Publicity prepares pricing announcements after verification</a:t>
            </a:r>
          </a:p>
          <a:p xmlns:a="http://schemas.openxmlformats.org/drawingml/2006/main">
            <a:pPr marL="254000" indent="-127000">
              <a:spcAft>
                <a:spcPts val="9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The Secretary records the arrangements in proposals and reports</a:t>
            </a:r>
          </a:p>
          <a:p xmlns:a="http://schemas.openxmlformats.org/drawingml/2006/main">
            <a:pPr marL="254000" indent="-127000">
              <a:spcAft>
                <a:spcPts val="9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Fee tracking and unified receipt upload functions already exist on the proposed website and are not urgent</a:t>
            </a:r>
          </a:p>
        </p:txBody>
      </p:sp>
    </p:spTree>
    <p:extLst>
      <p:ext uri="{BB962C8B-B14F-4D97-AF65-F5344CB8AC3E}">
        <p14:creationId xmlns:p14="http://schemas.microsoft.com/office/powerpoint/2010/main" val="907363345"/>
      </p:ext>
    </p:extLst>
  </p:cSld>
</p:sld>
</file>

<file path=ppt/slides/slide7.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633e81cdacb44d8"/>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4c8f6adbd06484b"/>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478101f88a2427c"/>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A8A2D4DD-6147-4ED6-B151-5370D1736681}"/>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5861B8E6-380E-45B1-9F56-0E6E248A08CE}"/>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E36DF91C-053A-45B5-A9D9-B2908C8D63C6}"/>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06</a:t>
            </a:r>
          </a:p>
        </p:txBody>
      </p:sp>
      <p:sp>
        <p:nvSpPr>
          <p:cNvPr id="7" name="slide-title">
            <a:extLst xmlns:a="http://schemas.openxmlformats.org/drawingml/2006/main">
              <a:ext uri="{FF2B5EF4-FFF2-40B4-BE49-F238E27FC236}">
                <a16:creationId xmlns:a16="http://schemas.microsoft.com/office/drawing/2014/main" id="{9EA50103-09B9-420B-A8FF-FFF92C81184A}"/>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Student Instructor Programme</a:t>
            </a:r>
          </a:p>
        </p:txBody>
      </p:sp>
      <p:sp>
        <p:nvSpPr>
          <p:cNvPr id="8" name="title-rule">
            <a:extLst xmlns:a="http://schemas.openxmlformats.org/drawingml/2006/main">
              <a:ext uri="{FF2B5EF4-FFF2-40B4-BE49-F238E27FC236}">
                <a16:creationId xmlns:a16="http://schemas.microsoft.com/office/drawing/2014/main" id="{EC811C64-14F3-43F1-ADA0-0A57F780A6E0}"/>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BFE041C4-1122-4AAA-93BB-8943CD6CF07C}"/>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E9653B3D-C980-45CB-B380-53C9AB543CB1}"/>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7</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80aa5270fe54970"/>
          <a:srcRect xmlns:a="http://schemas.openxmlformats.org/drawingml/2006/main" l="7152" t="0" r="7152" b="0"/>
          <a:stretch xmlns:a="http://schemas.openxmlformats.org/drawingml/2006/main">
            <a:fillRect l="0" t="0" r="0" b="0"/>
          </a:stretch>
        </p:blipFill>
        <p:spPr>
          <a:xfrm xmlns:a="http://schemas.openxmlformats.org/drawingml/2006/main">
            <a:off x="10191750" y="2667000"/>
            <a:ext cx="6858000" cy="4381500"/>
          </a:xfrm>
          <a:prstGeom xmlns:a="http://schemas.openxmlformats.org/drawingml/2006/main" prst="roundRect">
            <a:avLst>
              <a:gd name="adj" fmla="val 3478"/>
            </a:avLst>
          </a:prstGeom>
        </p:spPr>
      </p:pic>
      <p:sp>
        <p:nvSpPr>
          <p:cNvPr id="12" name="">
            <a:extLst xmlns:a="http://schemas.openxmlformats.org/drawingml/2006/main">
              <a:ext uri="{FF2B5EF4-FFF2-40B4-BE49-F238E27FC236}">
                <a16:creationId xmlns:a16="http://schemas.microsoft.com/office/drawing/2014/main" id="{2B92CD74-F3BC-4C71-B681-C60313D8559B}"/>
              </a:ext>
            </a:extLst>
          </p:cNvPr>
          <p:cNvSpPr>
            <a:spLocks xmlns:a="http://schemas.openxmlformats.org/drawingml/2006/main" noGrp="1"/>
          </p:cNvSpPr>
          <p:nvPr/>
        </p:nvSpPr>
        <p:spPr>
          <a:xfrm xmlns:a="http://schemas.openxmlformats.org/drawingml/2006/main">
            <a:off x="1047750" y="266700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ELIGIBILITY</a:t>
            </a:r>
          </a:p>
        </p:txBody>
      </p:sp>
      <p:sp>
        <p:nvSpPr>
          <p:cNvPr id="13" name="">
            <a:extLst xmlns:a="http://schemas.openxmlformats.org/drawingml/2006/main">
              <a:ext uri="{FF2B5EF4-FFF2-40B4-BE49-F238E27FC236}">
                <a16:creationId xmlns:a16="http://schemas.microsoft.com/office/drawing/2014/main" id="{B71AE203-14BB-4110-9661-4791BE0DDBA6}"/>
              </a:ext>
            </a:extLst>
          </p:cNvPr>
          <p:cNvSpPr>
            <a:spLocks xmlns:a="http://schemas.openxmlformats.org/drawingml/2006/main" noGrp="1"/>
          </p:cNvSpPr>
          <p:nvPr/>
        </p:nvSpPr>
        <p:spPr>
          <a:xfrm xmlns:a="http://schemas.openxmlformats.org/drawingml/2006/main">
            <a:off x="1047750" y="3190875"/>
            <a:ext cx="7810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More than two semester-based Certificates of Completion</a:t>
            </a:r>
          </a:p>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Or one yearly Certificate of Completion if the yearly system is adopted</a:t>
            </a:r>
          </a:p>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Semester certificates apply only to long semesters of about 14 weeks</a:t>
            </a:r>
          </a:p>
        </p:txBody>
      </p:sp>
      <p:sp>
        <p:nvSpPr>
          <p:cNvPr id="14" name="">
            <a:extLst xmlns:a="http://schemas.openxmlformats.org/drawingml/2006/main">
              <a:ext uri="{FF2B5EF4-FFF2-40B4-BE49-F238E27FC236}">
                <a16:creationId xmlns:a16="http://schemas.microsoft.com/office/drawing/2014/main" id="{7913B7A1-F34C-4B70-AFAE-DDBF84558F3A}"/>
              </a:ext>
            </a:extLst>
          </p:cNvPr>
          <p:cNvSpPr>
            <a:spLocks xmlns:a="http://schemas.openxmlformats.org/drawingml/2006/main" noGrp="1"/>
          </p:cNvSpPr>
          <p:nvPr/>
        </p:nvSpPr>
        <p:spPr>
          <a:xfrm xmlns:a="http://schemas.openxmlformats.org/drawingml/2006/main">
            <a:off x="1047750" y="623887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BENEFIT UNDER REVIEW</a:t>
            </a:r>
          </a:p>
        </p:txBody>
      </p:sp>
      <p:sp>
        <p:nvSpPr>
          <p:cNvPr id="15" name="">
            <a:extLst xmlns:a="http://schemas.openxmlformats.org/drawingml/2006/main">
              <a:ext uri="{FF2B5EF4-FFF2-40B4-BE49-F238E27FC236}">
                <a16:creationId xmlns:a16="http://schemas.microsoft.com/office/drawing/2014/main" id="{CC1CCFE2-5319-464B-9FF9-3E943384FF64}"/>
              </a:ext>
            </a:extLst>
          </p:cNvPr>
          <p:cNvSpPr>
            <a:spLocks xmlns:a="http://schemas.openxmlformats.org/drawingml/2006/main" noGrp="1"/>
          </p:cNvSpPr>
          <p:nvPr/>
        </p:nvSpPr>
        <p:spPr>
          <a:xfrm xmlns:a="http://schemas.openxmlformats.org/drawingml/2006/main">
            <a:off x="1047750" y="6762750"/>
            <a:ext cx="781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325">
                <a:solidFill>
                  <a:srgbClr val="433831"/>
                </a:solidFill>
                <a:latin typeface="Poppins"/>
                <a:ea typeface="Poppins"/>
                <a:cs typeface="Poppins"/>
              </a:defRPr>
            </a:pPr>
            <a:r>
              <a:rPr sz="2325">
                <a:solidFill>
                  <a:srgbClr val="433831"/>
                </a:solidFill>
                <a:latin typeface="Poppins"/>
                <a:ea typeface="Poppins"/>
                <a:cs typeface="Poppins"/>
              </a:rPr>
              <a:t>Fee waiver for student instructors who maintain more than 80% class attendance</a:t>
            </a:r>
          </a:p>
        </p:txBody>
      </p:sp>
      <p:sp>
        <p:nvSpPr>
          <p:cNvPr id="16" name="">
            <a:extLst xmlns:a="http://schemas.openxmlformats.org/drawingml/2006/main">
              <a:ext uri="{FF2B5EF4-FFF2-40B4-BE49-F238E27FC236}">
                <a16:creationId xmlns:a16="http://schemas.microsoft.com/office/drawing/2014/main" id="{369BA01B-754D-4BDD-99E7-B926FBA58220}"/>
              </a:ext>
            </a:extLst>
          </p:cNvPr>
          <p:cNvSpPr>
            <a:spLocks xmlns:a="http://schemas.openxmlformats.org/drawingml/2006/main" noGrp="1"/>
          </p:cNvSpPr>
          <p:nvPr/>
        </p:nvSpPr>
        <p:spPr>
          <a:xfrm xmlns:a="http://schemas.openxmlformats.org/drawingml/2006/main">
            <a:off x="10191750" y="74295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PROPOSED SIGNATORIES</a:t>
            </a:r>
          </a:p>
        </p:txBody>
      </p:sp>
      <p:sp>
        <p:nvSpPr>
          <p:cNvPr id="17" name="">
            <a:extLst xmlns:a="http://schemas.openxmlformats.org/drawingml/2006/main">
              <a:ext uri="{FF2B5EF4-FFF2-40B4-BE49-F238E27FC236}">
                <a16:creationId xmlns:a16="http://schemas.microsoft.com/office/drawing/2014/main" id="{A9A410DD-0D71-49CE-9799-F7963E614FF6}"/>
              </a:ext>
            </a:extLst>
          </p:cNvPr>
          <p:cNvSpPr>
            <a:spLocks xmlns:a="http://schemas.openxmlformats.org/drawingml/2006/main" noGrp="1"/>
          </p:cNvSpPr>
          <p:nvPr/>
        </p:nvSpPr>
        <p:spPr>
          <a:xfrm xmlns:a="http://schemas.openxmlformats.org/drawingml/2006/main">
            <a:off x="10191750" y="7953375"/>
            <a:ext cx="676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875">
                <a:solidFill>
                  <a:srgbClr val="433831"/>
                </a:solidFill>
                <a:latin typeface="Poppins"/>
                <a:ea typeface="Poppins"/>
                <a:cs typeface="Poppins"/>
              </a:defRPr>
            </a:pPr>
            <a:r>
              <a:rPr sz="1875">
                <a:solidFill>
                  <a:srgbClr val="433831"/>
                </a:solidFill>
                <a:latin typeface="Poppins"/>
                <a:ea typeface="Poppins"/>
                <a:cs typeface="Poppins"/>
              </a:rPr>
              <a:t>Instructor Ms Chew, Club Auditor, Club Chairperson, and Ms Belinda, Ms Heng or Core Advisor</a:t>
            </a:r>
          </a:p>
        </p:txBody>
      </p:sp>
    </p:spTree>
    <p:extLst>
      <p:ext uri="{BB962C8B-B14F-4D97-AF65-F5344CB8AC3E}">
        <p14:creationId xmlns:p14="http://schemas.microsoft.com/office/powerpoint/2010/main" val="525198138"/>
      </p:ext>
    </p:extLst>
  </p:cSld>
</p:sld>
</file>

<file path=ppt/slides/slide8.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98cd9b1dd8044fb"/>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6e0c80373a142ca"/>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9a16fcf0aa8481c"/>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2B0BBF56-6A42-48BB-BCC1-001F778546B7}"/>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6BE5887D-21E0-4930-BC49-992094204D48}"/>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16EBEDE1-4520-4412-9BEC-D7FB717344E7}"/>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07</a:t>
            </a:r>
          </a:p>
        </p:txBody>
      </p:sp>
      <p:sp>
        <p:nvSpPr>
          <p:cNvPr id="7" name="slide-title">
            <a:extLst xmlns:a="http://schemas.openxmlformats.org/drawingml/2006/main">
              <a:ext uri="{FF2B5EF4-FFF2-40B4-BE49-F238E27FC236}">
                <a16:creationId xmlns:a16="http://schemas.microsoft.com/office/drawing/2014/main" id="{5F8C8821-2E64-4007-A0CC-D176A53C2407}"/>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Publicity guidelines and controls</a:t>
            </a:r>
          </a:p>
        </p:txBody>
      </p:sp>
      <p:sp>
        <p:nvSpPr>
          <p:cNvPr id="8" name="title-rule">
            <a:extLst xmlns:a="http://schemas.openxmlformats.org/drawingml/2006/main">
              <a:ext uri="{FF2B5EF4-FFF2-40B4-BE49-F238E27FC236}">
                <a16:creationId xmlns:a16="http://schemas.microsoft.com/office/drawing/2014/main" id="{57B8F075-C189-46A5-BD22-A8AF529F2E93}"/>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B28C7EF6-2945-4758-815C-C0A6713AA575}"/>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F6FF3212-04C0-40DF-AB30-5AF921001066}"/>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8</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aadf91101894f23"/>
          <a:srcRect xmlns:a="http://schemas.openxmlformats.org/drawingml/2006/main" l="12691" t="0" r="12691" b="0"/>
          <a:stretch xmlns:a="http://schemas.openxmlformats.org/drawingml/2006/main">
            <a:fillRect l="0" t="0" r="0" b="0"/>
          </a:stretch>
        </p:blipFill>
        <p:spPr>
          <a:xfrm xmlns:a="http://schemas.openxmlformats.org/drawingml/2006/main">
            <a:off x="10668000" y="2714625"/>
            <a:ext cx="6286500" cy="5619750"/>
          </a:xfrm>
          <a:prstGeom xmlns:a="http://schemas.openxmlformats.org/drawingml/2006/main" prst="roundRect">
            <a:avLst>
              <a:gd name="adj" fmla="val 2712"/>
            </a:avLst>
          </a:prstGeom>
        </p:spPr>
      </p:pic>
      <p:sp>
        <p:nvSpPr>
          <p:cNvPr id="12" name="">
            <a:extLst xmlns:a="http://schemas.openxmlformats.org/drawingml/2006/main">
              <a:ext uri="{FF2B5EF4-FFF2-40B4-BE49-F238E27FC236}">
                <a16:creationId xmlns:a16="http://schemas.microsoft.com/office/drawing/2014/main" id="{60C67DE4-0822-4111-B479-B31F16C615E9}"/>
              </a:ext>
            </a:extLst>
          </p:cNvPr>
          <p:cNvSpPr>
            <a:spLocks xmlns:a="http://schemas.openxmlformats.org/drawingml/2006/main" noGrp="1"/>
          </p:cNvSpPr>
          <p:nvPr/>
        </p:nvSpPr>
        <p:spPr>
          <a:xfrm xmlns:a="http://schemas.openxmlformats.org/drawingml/2006/main">
            <a:off x="1047750" y="266700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PUBLICATION SCOPE</a:t>
            </a:r>
          </a:p>
        </p:txBody>
      </p:sp>
      <p:sp>
        <p:nvSpPr>
          <p:cNvPr id="13" name="">
            <a:extLst xmlns:a="http://schemas.openxmlformats.org/drawingml/2006/main">
              <a:ext uri="{FF2B5EF4-FFF2-40B4-BE49-F238E27FC236}">
                <a16:creationId xmlns:a16="http://schemas.microsoft.com/office/drawing/2014/main" id="{E1FD11F9-E445-4A1E-888C-E23F658F5DE8}"/>
              </a:ext>
            </a:extLst>
          </p:cNvPr>
          <p:cNvSpPr>
            <a:spLocks xmlns:a="http://schemas.openxmlformats.org/drawingml/2006/main" noGrp="1"/>
          </p:cNvSpPr>
          <p:nvPr/>
        </p:nvSpPr>
        <p:spPr>
          <a:xfrm xmlns:a="http://schemas.openxmlformats.org/drawingml/2006/main">
            <a:off x="1047750" y="3190875"/>
            <a:ext cx="8096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Recruitment Drive and free yoga classes</a:t>
            </a:r>
          </a:p>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Weekly classes and certification</a:t>
            </a:r>
          </a:p>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Members’ Night, lucky draw and merchandise</a:t>
            </a:r>
          </a:p>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Meditation and other approved programmes</a:t>
            </a:r>
          </a:p>
        </p:txBody>
      </p:sp>
      <p:sp>
        <p:nvSpPr>
          <p:cNvPr id="14" name="">
            <a:extLst xmlns:a="http://schemas.openxmlformats.org/drawingml/2006/main">
              <a:ext uri="{FF2B5EF4-FFF2-40B4-BE49-F238E27FC236}">
                <a16:creationId xmlns:a16="http://schemas.microsoft.com/office/drawing/2014/main" id="{64B30901-70B1-4351-94BA-32B522DC9C6C}"/>
              </a:ext>
            </a:extLst>
          </p:cNvPr>
          <p:cNvSpPr>
            <a:spLocks xmlns:a="http://schemas.openxmlformats.org/drawingml/2006/main" noGrp="1"/>
          </p:cNvSpPr>
          <p:nvPr/>
        </p:nvSpPr>
        <p:spPr>
          <a:xfrm xmlns:a="http://schemas.openxmlformats.org/drawingml/2006/main">
            <a:off x="1047750" y="647700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RELEASE CONTROL</a:t>
            </a:r>
          </a:p>
        </p:txBody>
      </p:sp>
      <p:sp>
        <p:nvSpPr>
          <p:cNvPr id="15" name="">
            <a:extLst xmlns:a="http://schemas.openxmlformats.org/drawingml/2006/main">
              <a:ext uri="{FF2B5EF4-FFF2-40B4-BE49-F238E27FC236}">
                <a16:creationId xmlns:a16="http://schemas.microsoft.com/office/drawing/2014/main" id="{A9A80B02-8D20-4E0C-A89A-77450F694D98}"/>
              </a:ext>
            </a:extLst>
          </p:cNvPr>
          <p:cNvSpPr>
            <a:spLocks xmlns:a="http://schemas.openxmlformats.org/drawingml/2006/main" noGrp="1"/>
          </p:cNvSpPr>
          <p:nvPr/>
        </p:nvSpPr>
        <p:spPr>
          <a:xfrm xmlns:a="http://schemas.openxmlformats.org/drawingml/2006/main">
            <a:off x="1047750" y="7000875"/>
            <a:ext cx="857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700"/>
              </a:spcAft>
              <a:buChar char="•"/>
              <a:defRPr sz="1875">
                <a:solidFill>
                  <a:srgbClr val="433831"/>
                </a:solidFill>
                <a:latin typeface="Poppins"/>
                <a:ea typeface="Poppins"/>
                <a:cs typeface="Poppins"/>
              </a:defRPr>
            </a:pPr>
            <a:r>
              <a:rPr sz="1875">
                <a:solidFill>
                  <a:srgbClr val="433831"/>
                </a:solidFill>
                <a:latin typeface="Poppins"/>
                <a:ea typeface="Poppins"/>
                <a:cs typeface="Poppins"/>
              </a:rPr>
              <a:t>Verify dates, venues, fees, payment instructions and participation requirements with the Secretary and Treasurer</a:t>
            </a:r>
          </a:p>
          <a:p xmlns:a="http://schemas.openxmlformats.org/drawingml/2006/main">
            <a:pPr marL="254000" indent="-127000">
              <a:spcAft>
                <a:spcPts val="700"/>
              </a:spcAft>
              <a:buChar char="•"/>
              <a:defRPr sz="1875">
                <a:solidFill>
                  <a:srgbClr val="433831"/>
                </a:solidFill>
                <a:latin typeface="Poppins"/>
                <a:ea typeface="Poppins"/>
                <a:cs typeface="Poppins"/>
              </a:defRPr>
            </a:pPr>
            <a:r>
              <a:rPr sz="1875">
                <a:solidFill>
                  <a:srgbClr val="433831"/>
                </a:solidFill>
                <a:latin typeface="Poppins"/>
                <a:ea typeface="Poppins"/>
                <a:cs typeface="Poppins"/>
              </a:rPr>
              <a:t>Update materials when confirmed arrangements change</a:t>
            </a:r>
          </a:p>
          <a:p xmlns:a="http://schemas.openxmlformats.org/drawingml/2006/main">
            <a:pPr marL="254000" indent="-127000">
              <a:spcAft>
                <a:spcPts val="700"/>
              </a:spcAft>
              <a:buChar char="•"/>
              <a:defRPr sz="1875">
                <a:solidFill>
                  <a:srgbClr val="433831"/>
                </a:solidFill>
                <a:latin typeface="Poppins"/>
                <a:ea typeface="Poppins"/>
                <a:cs typeface="Poppins"/>
              </a:defRPr>
            </a:pPr>
            <a:r>
              <a:rPr sz="1875">
                <a:solidFill>
                  <a:srgbClr val="433831"/>
                </a:solidFill>
                <a:latin typeface="Poppins"/>
                <a:ea typeface="Poppins"/>
                <a:cs typeface="Poppins"/>
              </a:rPr>
              <a:t>Archive posters, captions, announcements and registration links</a:t>
            </a:r>
          </a:p>
        </p:txBody>
      </p:sp>
    </p:spTree>
    <p:extLst>
      <p:ext uri="{BB962C8B-B14F-4D97-AF65-F5344CB8AC3E}">
        <p14:creationId xmlns:p14="http://schemas.microsoft.com/office/powerpoint/2010/main" val="1636487568"/>
      </p:ext>
    </p:extLst>
  </p:cSld>
</p:sld>
</file>

<file path=ppt/slides/slide9.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5b6dcd278a844b5"/>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e7591c706954acf"/>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fab98ff54754b14"/>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2FC3371F-E8CC-4A64-8C55-E550F9E7B7CB}"/>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227AF648-C3C9-4488-9816-8558E2BAC987}"/>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31C661A4-1AEF-4C88-A8DF-2D54AD456289}"/>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08</a:t>
            </a:r>
          </a:p>
        </p:txBody>
      </p:sp>
      <p:sp>
        <p:nvSpPr>
          <p:cNvPr id="7" name="slide-title">
            <a:extLst xmlns:a="http://schemas.openxmlformats.org/drawingml/2006/main">
              <a:ext uri="{FF2B5EF4-FFF2-40B4-BE49-F238E27FC236}">
                <a16:creationId xmlns:a16="http://schemas.microsoft.com/office/drawing/2014/main" id="{86EEE961-DF3B-4422-A0E6-D3F0D74629E0}"/>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Weekly class certification policy</a:t>
            </a:r>
          </a:p>
        </p:txBody>
      </p:sp>
      <p:sp>
        <p:nvSpPr>
          <p:cNvPr id="8" name="title-rule">
            <a:extLst xmlns:a="http://schemas.openxmlformats.org/drawingml/2006/main">
              <a:ext uri="{FF2B5EF4-FFF2-40B4-BE49-F238E27FC236}">
                <a16:creationId xmlns:a16="http://schemas.microsoft.com/office/drawing/2014/main" id="{6318A2C2-B59B-4AAE-B5BB-D4D6B7A0FB41}"/>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BD3CB4F7-FF2D-4383-89BA-3C881CDD0D4E}"/>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5E47148F-DD54-4022-8B16-6140A3302158}"/>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9</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89d7038b4084f50"/>
          <a:srcRect xmlns:a="http://schemas.openxmlformats.org/drawingml/2006/main" l="6170" t="0" r="6170" b="0"/>
          <a:stretch xmlns:a="http://schemas.openxmlformats.org/drawingml/2006/main">
            <a:fillRect l="0" t="0" r="0" b="0"/>
          </a:stretch>
        </p:blipFill>
        <p:spPr>
          <a:xfrm xmlns:a="http://schemas.openxmlformats.org/drawingml/2006/main">
            <a:off x="11525250" y="2619375"/>
            <a:ext cx="4953000" cy="4000500"/>
          </a:xfrm>
          <a:prstGeom xmlns:a="http://schemas.openxmlformats.org/drawingml/2006/main" prst="roundRect">
            <a:avLst>
              <a:gd name="adj" fmla="val 3810"/>
            </a:avLst>
          </a:prstGeom>
        </p:spPr>
      </p:pic>
      <p:sp>
        <p:nvSpPr>
          <p:cNvPr id="12" name="">
            <a:extLst xmlns:a="http://schemas.openxmlformats.org/drawingml/2006/main">
              <a:ext uri="{FF2B5EF4-FFF2-40B4-BE49-F238E27FC236}">
                <a16:creationId xmlns:a16="http://schemas.microsoft.com/office/drawing/2014/main" id="{1D472DA6-6011-4079-85F8-10F60C259E45}"/>
              </a:ext>
            </a:extLst>
          </p:cNvPr>
          <p:cNvSpPr>
            <a:spLocks xmlns:a="http://schemas.openxmlformats.org/drawingml/2006/main" noGrp="1"/>
          </p:cNvSpPr>
          <p:nvPr/>
        </p:nvSpPr>
        <p:spPr>
          <a:xfrm xmlns:a="http://schemas.openxmlformats.org/drawingml/2006/main">
            <a:off x="1047750" y="2781300"/>
            <a:ext cx="257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5850" b="1">
                <a:solidFill>
                  <a:srgbClr val="BD9479"/>
                </a:solidFill>
                <a:latin typeface="Poppins Bold"/>
                <a:ea typeface="Poppins Bold"/>
                <a:cs typeface="Poppins Bold"/>
              </a:defRPr>
            </a:pPr>
            <a:r>
              <a:rPr sz="5850" b="1">
                <a:solidFill>
                  <a:srgbClr val="BD9479"/>
                </a:solidFill>
                <a:latin typeface="Poppins Bold"/>
                <a:ea typeface="Poppins Bold"/>
                <a:cs typeface="Poppins Bold"/>
              </a:rPr>
              <a:t>80%</a:t>
            </a:r>
          </a:p>
        </p:txBody>
      </p:sp>
      <p:sp>
        <p:nvSpPr>
          <p:cNvPr id="13" name="">
            <a:extLst xmlns:a="http://schemas.openxmlformats.org/drawingml/2006/main">
              <a:ext uri="{FF2B5EF4-FFF2-40B4-BE49-F238E27FC236}">
                <a16:creationId xmlns:a16="http://schemas.microsoft.com/office/drawing/2014/main" id="{377B0EFB-7A24-4929-ABA9-BE94E5D2CB2A}"/>
              </a:ext>
            </a:extLst>
          </p:cNvPr>
          <p:cNvSpPr>
            <a:spLocks xmlns:a="http://schemas.openxmlformats.org/drawingml/2006/main" noGrp="1"/>
          </p:cNvSpPr>
          <p:nvPr/>
        </p:nvSpPr>
        <p:spPr>
          <a:xfrm xmlns:a="http://schemas.openxmlformats.org/drawingml/2006/main">
            <a:off x="3571875" y="2905125"/>
            <a:ext cx="695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75">
                <a:solidFill>
                  <a:srgbClr val="433831"/>
                </a:solidFill>
                <a:latin typeface="Poppins"/>
                <a:ea typeface="Poppins"/>
                <a:cs typeface="Poppins"/>
              </a:defRPr>
            </a:pPr>
            <a:r>
              <a:rPr sz="2175">
                <a:solidFill>
                  <a:srgbClr val="433831"/>
                </a:solidFill>
                <a:latin typeface="Poppins"/>
                <a:ea typeface="Poppins"/>
                <a:cs typeface="Poppins"/>
              </a:rPr>
              <a:t>proposed attendance threshold for a semester-based Certificate of Completion (结业证书)</a:t>
            </a:r>
          </a:p>
        </p:txBody>
      </p:sp>
      <p:sp>
        <p:nvSpPr>
          <p:cNvPr id="14" name="">
            <a:extLst xmlns:a="http://schemas.openxmlformats.org/drawingml/2006/main">
              <a:ext uri="{FF2B5EF4-FFF2-40B4-BE49-F238E27FC236}">
                <a16:creationId xmlns:a16="http://schemas.microsoft.com/office/drawing/2014/main" id="{597275EE-DD01-4C4C-84D7-A13BEC2D20CA}"/>
              </a:ext>
            </a:extLst>
          </p:cNvPr>
          <p:cNvSpPr>
            <a:spLocks xmlns:a="http://schemas.openxmlformats.org/drawingml/2006/main" noGrp="1"/>
          </p:cNvSpPr>
          <p:nvPr/>
        </p:nvSpPr>
        <p:spPr>
          <a:xfrm xmlns:a="http://schemas.openxmlformats.org/drawingml/2006/main">
            <a:off x="1047750" y="461962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SEMESTER MODEL</a:t>
            </a:r>
          </a:p>
        </p:txBody>
      </p:sp>
      <p:sp>
        <p:nvSpPr>
          <p:cNvPr id="15" name="">
            <a:extLst xmlns:a="http://schemas.openxmlformats.org/drawingml/2006/main">
              <a:ext uri="{FF2B5EF4-FFF2-40B4-BE49-F238E27FC236}">
                <a16:creationId xmlns:a16="http://schemas.microsoft.com/office/drawing/2014/main" id="{04E13836-4F65-4261-B5D4-07FBF930B5F6}"/>
              </a:ext>
            </a:extLst>
          </p:cNvPr>
          <p:cNvSpPr>
            <a:spLocks xmlns:a="http://schemas.openxmlformats.org/drawingml/2006/main" noGrp="1"/>
          </p:cNvSpPr>
          <p:nvPr/>
        </p:nvSpPr>
        <p:spPr>
          <a:xfrm xmlns:a="http://schemas.openxmlformats.org/drawingml/2006/main">
            <a:off x="1047750" y="5143500"/>
            <a:ext cx="88582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Approximately 14 hours or 14 class days during a long semester</a:t>
            </a:r>
          </a:p>
          <a:p xmlns:a="http://schemas.openxmlformats.org/drawingml/2006/main">
            <a:pPr marL="254000" indent="-127000">
              <a:spcAft>
                <a:spcPts val="1000"/>
              </a:spcAft>
              <a:buChar char="•"/>
              <a:defRPr sz="2025">
                <a:solidFill>
                  <a:srgbClr val="433831"/>
                </a:solidFill>
                <a:latin typeface="Poppins"/>
                <a:ea typeface="Poppins"/>
                <a:cs typeface="Poppins"/>
              </a:defRPr>
            </a:pPr>
            <a:r>
              <a:rPr sz="2025">
                <a:solidFill>
                  <a:srgbClr val="433831"/>
                </a:solidFill>
                <a:latin typeface="Poppins"/>
                <a:ea typeface="Poppins"/>
                <a:cs typeface="Poppins"/>
              </a:rPr>
              <a:t>Short-semester attendance may accumulate towards the long-semester requirement</a:t>
            </a:r>
          </a:p>
        </p:txBody>
      </p:sp>
      <p:sp>
        <p:nvSpPr>
          <p:cNvPr id="16" name="">
            <a:extLst xmlns:a="http://schemas.openxmlformats.org/drawingml/2006/main">
              <a:ext uri="{FF2B5EF4-FFF2-40B4-BE49-F238E27FC236}">
                <a16:creationId xmlns:a16="http://schemas.microsoft.com/office/drawing/2014/main" id="{7DEDB35B-84A2-4632-A0F3-5D75879A1FF6}"/>
              </a:ext>
            </a:extLst>
          </p:cNvPr>
          <p:cNvSpPr>
            <a:spLocks xmlns:a="http://schemas.openxmlformats.org/drawingml/2006/main" noGrp="1"/>
          </p:cNvSpPr>
          <p:nvPr/>
        </p:nvSpPr>
        <p:spPr>
          <a:xfrm xmlns:a="http://schemas.openxmlformats.org/drawingml/2006/main">
            <a:off x="1047750" y="719137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ALTERNATIVE YEARLY MODEL</a:t>
            </a:r>
          </a:p>
        </p:txBody>
      </p:sp>
      <p:sp>
        <p:nvSpPr>
          <p:cNvPr id="17" name="">
            <a:extLst xmlns:a="http://schemas.openxmlformats.org/drawingml/2006/main">
              <a:ext uri="{FF2B5EF4-FFF2-40B4-BE49-F238E27FC236}">
                <a16:creationId xmlns:a16="http://schemas.microsoft.com/office/drawing/2014/main" id="{0791D91A-208C-4070-8FB3-C0E87636543D}"/>
              </a:ext>
            </a:extLst>
          </p:cNvPr>
          <p:cNvSpPr>
            <a:spLocks xmlns:a="http://schemas.openxmlformats.org/drawingml/2006/main" noGrp="1"/>
          </p:cNvSpPr>
          <p:nvPr/>
        </p:nvSpPr>
        <p:spPr>
          <a:xfrm xmlns:a="http://schemas.openxmlformats.org/drawingml/2006/main">
            <a:off x="1047750" y="7715250"/>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250">
                <a:solidFill>
                  <a:srgbClr val="433831"/>
                </a:solidFill>
                <a:latin typeface="Poppins"/>
                <a:ea typeface="Poppins"/>
                <a:cs typeface="Poppins"/>
              </a:defRPr>
            </a:pPr>
            <a:r>
              <a:rPr sz="2250">
                <a:solidFill>
                  <a:srgbClr val="433831"/>
                </a:solidFill>
                <a:latin typeface="Poppins"/>
                <a:ea typeface="Poppins"/>
                <a:cs typeface="Poppins"/>
              </a:rPr>
              <a:t>Approximately 35 hours, 35 days or 35 yoga practice classes</a:t>
            </a:r>
          </a:p>
        </p:txBody>
      </p:sp>
      <p:sp>
        <p:nvSpPr>
          <p:cNvPr id="18" name="">
            <a:extLst xmlns:a="http://schemas.openxmlformats.org/drawingml/2006/main">
              <a:ext uri="{FF2B5EF4-FFF2-40B4-BE49-F238E27FC236}">
                <a16:creationId xmlns:a16="http://schemas.microsoft.com/office/drawing/2014/main" id="{EA8D9FC1-EE54-4CCC-BADB-1F0F6BC48B90}"/>
              </a:ext>
            </a:extLst>
          </p:cNvPr>
          <p:cNvSpPr>
            <a:spLocks xmlns:a="http://schemas.openxmlformats.org/drawingml/2006/main" noGrp="1"/>
          </p:cNvSpPr>
          <p:nvPr/>
        </p:nvSpPr>
        <p:spPr>
          <a:xfrm xmlns:a="http://schemas.openxmlformats.org/drawingml/2006/main">
            <a:off x="11430000" y="709612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STILL TO CONFIRM</a:t>
            </a:r>
          </a:p>
        </p:txBody>
      </p:sp>
      <p:sp>
        <p:nvSpPr>
          <p:cNvPr id="19" name="">
            <a:extLst xmlns:a="http://schemas.openxmlformats.org/drawingml/2006/main">
              <a:ext uri="{FF2B5EF4-FFF2-40B4-BE49-F238E27FC236}">
                <a16:creationId xmlns:a16="http://schemas.microsoft.com/office/drawing/2014/main" id="{03731E71-4614-417A-85E4-4B1EC9030F02}"/>
              </a:ext>
            </a:extLst>
          </p:cNvPr>
          <p:cNvSpPr>
            <a:spLocks xmlns:a="http://schemas.openxmlformats.org/drawingml/2006/main" noGrp="1"/>
          </p:cNvSpPr>
          <p:nvPr/>
        </p:nvSpPr>
        <p:spPr>
          <a:xfrm xmlns:a="http://schemas.openxmlformats.org/drawingml/2006/main">
            <a:off x="11430000" y="7620000"/>
            <a:ext cx="5334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800">
                <a:solidFill>
                  <a:srgbClr val="433831"/>
                </a:solidFill>
                <a:latin typeface="Poppins"/>
                <a:ea typeface="Poppins"/>
                <a:cs typeface="Poppins"/>
              </a:defRPr>
            </a:pPr>
            <a:r>
              <a:rPr sz="1800">
                <a:solidFill>
                  <a:srgbClr val="433831"/>
                </a:solidFill>
                <a:latin typeface="Poppins"/>
                <a:ea typeface="Poppins"/>
                <a:cs typeface="Poppins"/>
              </a:rPr>
              <a:t>Signatories: Ms Chew, Ms Xinle, Club Chairperson, and Ms Belinda, Ms Heng or Core Advisor. Confirm permitted Yoga Club, DSA and UTAR logos.</a:t>
            </a:r>
          </a:p>
        </p:txBody>
      </p:sp>
    </p:spTree>
    <p:extLst>
      <p:ext uri="{BB962C8B-B14F-4D97-AF65-F5344CB8AC3E}">
        <p14:creationId xmlns:p14="http://schemas.microsoft.com/office/powerpoint/2010/main" val="227511526"/>
      </p:ext>
    </p:extLst>
  </p:cSld>
</p:sld>
</file>

<file path=ppt/slides/slide10.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22164ac7b3d4faa"/>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ab8a40ca2a344bd"/>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67d7dd73aed430b"/>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2F891686-F606-4F80-8EFD-FDFD3076D793}"/>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A8F9C1F3-CBFF-4E27-9D2F-BF2CB0BECAB7}"/>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95999307-0ADE-4CB8-9986-796D9FD73054}"/>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09</a:t>
            </a:r>
          </a:p>
        </p:txBody>
      </p:sp>
      <p:sp>
        <p:nvSpPr>
          <p:cNvPr id="7" name="slide-title">
            <a:extLst xmlns:a="http://schemas.openxmlformats.org/drawingml/2006/main">
              <a:ext uri="{FF2B5EF4-FFF2-40B4-BE49-F238E27FC236}">
                <a16:creationId xmlns:a16="http://schemas.microsoft.com/office/drawing/2014/main" id="{AE801B2A-F7BA-4D24-8A1D-B42AAFDFA5A6}"/>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Higher committee recruitment</a:t>
            </a:r>
          </a:p>
        </p:txBody>
      </p:sp>
      <p:sp>
        <p:nvSpPr>
          <p:cNvPr id="8" name="title-rule">
            <a:extLst xmlns:a="http://schemas.openxmlformats.org/drawingml/2006/main">
              <a:ext uri="{FF2B5EF4-FFF2-40B4-BE49-F238E27FC236}">
                <a16:creationId xmlns:a16="http://schemas.microsoft.com/office/drawing/2014/main" id="{1C12B7ED-E5AE-4C59-BD23-D5B561A7B33A}"/>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A45A5CB2-408F-4EC8-A4FA-DB9210FC3B8C}"/>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9D39F23E-13AB-462E-B88D-7D118D297BBB}"/>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10</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7c748fa1fc54cda"/>
          <a:srcRect xmlns:a="http://schemas.openxmlformats.org/drawingml/2006/main" l="0" t="21875" r="0" b="21875"/>
          <a:stretch xmlns:a="http://schemas.openxmlformats.org/drawingml/2006/main">
            <a:fillRect l="0" t="0" r="0" b="0"/>
          </a:stretch>
        </p:blipFill>
        <p:spPr>
          <a:xfrm xmlns:a="http://schemas.openxmlformats.org/drawingml/2006/main">
            <a:off x="10572750" y="2571750"/>
            <a:ext cx="6191250" cy="6191250"/>
          </a:xfrm>
          <a:prstGeom xmlns:a="http://schemas.openxmlformats.org/drawingml/2006/main" prst="ellipse">
            <a:avLst/>
          </a:prstGeom>
        </p:spPr>
      </p:pic>
      <p:sp>
        <p:nvSpPr>
          <p:cNvPr id="12" name="">
            <a:extLst xmlns:a="http://schemas.openxmlformats.org/drawingml/2006/main">
              <a:ext uri="{FF2B5EF4-FFF2-40B4-BE49-F238E27FC236}">
                <a16:creationId xmlns:a16="http://schemas.microsoft.com/office/drawing/2014/main" id="{8BDAFDD4-A9FA-4417-95CF-17DE626ED888}"/>
              </a:ext>
            </a:extLst>
          </p:cNvPr>
          <p:cNvSpPr>
            <a:spLocks xmlns:a="http://schemas.openxmlformats.org/drawingml/2006/main" noGrp="1"/>
          </p:cNvSpPr>
          <p:nvPr/>
        </p:nvSpPr>
        <p:spPr>
          <a:xfrm xmlns:a="http://schemas.openxmlformats.org/drawingml/2006/main">
            <a:off x="1047750" y="2714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PRIORITY VACANCIES</a:t>
            </a:r>
          </a:p>
        </p:txBody>
      </p:sp>
      <p:sp>
        <p:nvSpPr>
          <p:cNvPr id="13" name="">
            <a:extLst xmlns:a="http://schemas.openxmlformats.org/drawingml/2006/main">
              <a:ext uri="{FF2B5EF4-FFF2-40B4-BE49-F238E27FC236}">
                <a16:creationId xmlns:a16="http://schemas.microsoft.com/office/drawing/2014/main" id="{CAE6ECAE-F348-43ED-BCED-1C91D2BF6D6B}"/>
              </a:ext>
            </a:extLst>
          </p:cNvPr>
          <p:cNvSpPr>
            <a:spLocks xmlns:a="http://schemas.openxmlformats.org/drawingml/2006/main" noGrp="1"/>
          </p:cNvSpPr>
          <p:nvPr/>
        </p:nvSpPr>
        <p:spPr>
          <a:xfrm xmlns:a="http://schemas.openxmlformats.org/drawingml/2006/main">
            <a:off x="1047750" y="3429000"/>
            <a:ext cx="619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000" b="1">
                <a:solidFill>
                  <a:srgbClr val="5B4F47"/>
                </a:solidFill>
                <a:latin typeface="Poppins Bold"/>
                <a:ea typeface="Poppins Bold"/>
                <a:cs typeface="Poppins Bold"/>
              </a:defRPr>
            </a:pPr>
            <a:r>
              <a:rPr sz="3000" b="1">
                <a:solidFill>
                  <a:srgbClr val="5B4F47"/>
                </a:solidFill>
                <a:latin typeface="Poppins Bold"/>
                <a:ea typeface="Poppins Bold"/>
                <a:cs typeface="Poppins Bold"/>
              </a:rPr>
              <a:t>VICE CHAIRPERSON</a:t>
            </a:r>
          </a:p>
        </p:txBody>
      </p:sp>
      <p:sp>
        <p:nvSpPr>
          <p:cNvPr id="14" name="">
            <a:extLst xmlns:a="http://schemas.openxmlformats.org/drawingml/2006/main">
              <a:ext uri="{FF2B5EF4-FFF2-40B4-BE49-F238E27FC236}">
                <a16:creationId xmlns:a16="http://schemas.microsoft.com/office/drawing/2014/main" id="{9EC74CFC-5664-4307-A4F3-F57EA95A7B67}"/>
              </a:ext>
            </a:extLst>
          </p:cNvPr>
          <p:cNvSpPr>
            <a:spLocks xmlns:a="http://schemas.openxmlformats.org/drawingml/2006/main" noGrp="1"/>
          </p:cNvSpPr>
          <p:nvPr/>
        </p:nvSpPr>
        <p:spPr>
          <a:xfrm xmlns:a="http://schemas.openxmlformats.org/drawingml/2006/main">
            <a:off x="1047750" y="4143375"/>
            <a:ext cx="781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Identify a suitable current committee member with a strong student network.</a:t>
            </a:r>
          </a:p>
        </p:txBody>
      </p:sp>
      <p:sp>
        <p:nvSpPr>
          <p:cNvPr id="15" name="">
            <a:extLst xmlns:a="http://schemas.openxmlformats.org/drawingml/2006/main">
              <a:ext uri="{FF2B5EF4-FFF2-40B4-BE49-F238E27FC236}">
                <a16:creationId xmlns:a16="http://schemas.microsoft.com/office/drawing/2014/main" id="{32F5CB29-94A4-486F-9B41-5187E2F0F757}"/>
              </a:ext>
            </a:extLst>
          </p:cNvPr>
          <p:cNvSpPr>
            <a:spLocks xmlns:a="http://schemas.openxmlformats.org/drawingml/2006/main" noGrp="1"/>
          </p:cNvSpPr>
          <p:nvPr/>
        </p:nvSpPr>
        <p:spPr>
          <a:xfrm xmlns:a="http://schemas.openxmlformats.org/drawingml/2006/main">
            <a:off x="1047750" y="5572125"/>
            <a:ext cx="619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000" b="1">
                <a:solidFill>
                  <a:srgbClr val="5B4F47"/>
                </a:solidFill>
                <a:latin typeface="Poppins Bold"/>
                <a:ea typeface="Poppins Bold"/>
                <a:cs typeface="Poppins Bold"/>
              </a:defRPr>
            </a:pPr>
            <a:r>
              <a:rPr sz="3000" b="1">
                <a:solidFill>
                  <a:srgbClr val="5B4F47"/>
                </a:solidFill>
                <a:latin typeface="Poppins Bold"/>
                <a:ea typeface="Poppins Bold"/>
                <a:cs typeface="Poppins Bold"/>
              </a:rPr>
              <a:t>PUBLICITY TEAM</a:t>
            </a:r>
          </a:p>
        </p:txBody>
      </p:sp>
      <p:sp>
        <p:nvSpPr>
          <p:cNvPr id="16" name="">
            <a:extLst xmlns:a="http://schemas.openxmlformats.org/drawingml/2006/main">
              <a:ext uri="{FF2B5EF4-FFF2-40B4-BE49-F238E27FC236}">
                <a16:creationId xmlns:a16="http://schemas.microsoft.com/office/drawing/2014/main" id="{97337034-C789-498B-BAA4-D1F0C66DA9BD}"/>
              </a:ext>
            </a:extLst>
          </p:cNvPr>
          <p:cNvSpPr>
            <a:spLocks xmlns:a="http://schemas.openxmlformats.org/drawingml/2006/main" noGrp="1"/>
          </p:cNvSpPr>
          <p:nvPr/>
        </p:nvSpPr>
        <p:spPr>
          <a:xfrm xmlns:a="http://schemas.openxmlformats.org/drawingml/2006/main">
            <a:off x="1047750" y="6286500"/>
            <a:ext cx="781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Recruit one additional member to support the coming programme.</a:t>
            </a:r>
          </a:p>
        </p:txBody>
      </p:sp>
      <p:sp>
        <p:nvSpPr>
          <p:cNvPr id="17" name="">
            <a:extLst xmlns:a="http://schemas.openxmlformats.org/drawingml/2006/main">
              <a:ext uri="{FF2B5EF4-FFF2-40B4-BE49-F238E27FC236}">
                <a16:creationId xmlns:a16="http://schemas.microsoft.com/office/drawing/2014/main" id="{B1ABC45E-EECD-4AC3-9B07-D157CF8556A4}"/>
              </a:ext>
            </a:extLst>
          </p:cNvPr>
          <p:cNvSpPr>
            <a:spLocks xmlns:a="http://schemas.openxmlformats.org/drawingml/2006/main" noGrp="1"/>
          </p:cNvSpPr>
          <p:nvPr/>
        </p:nvSpPr>
        <p:spPr>
          <a:xfrm xmlns:a="http://schemas.openxmlformats.org/drawingml/2006/main">
            <a:off x="1047750" y="78105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RECRUITMENT ROUTE</a:t>
            </a:r>
          </a:p>
        </p:txBody>
      </p:sp>
      <p:sp>
        <p:nvSpPr>
          <p:cNvPr id="18" name="">
            <a:extLst xmlns:a="http://schemas.openxmlformats.org/drawingml/2006/main">
              <a:ext uri="{FF2B5EF4-FFF2-40B4-BE49-F238E27FC236}">
                <a16:creationId xmlns:a16="http://schemas.microsoft.com/office/drawing/2014/main" id="{9354E133-F82D-4E33-8B80-F4CF78A32CD2}"/>
              </a:ext>
            </a:extLst>
          </p:cNvPr>
          <p:cNvSpPr>
            <a:spLocks xmlns:a="http://schemas.openxmlformats.org/drawingml/2006/main" noGrp="1"/>
          </p:cNvSpPr>
          <p:nvPr/>
        </p:nvSpPr>
        <p:spPr>
          <a:xfrm xmlns:a="http://schemas.openxmlformats.org/drawingml/2006/main">
            <a:off x="1047750" y="8286750"/>
            <a:ext cx="857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800">
                <a:solidFill>
                  <a:srgbClr val="745E4D"/>
                </a:solidFill>
                <a:latin typeface="Poppins"/>
                <a:ea typeface="Poppins"/>
                <a:cs typeface="Poppins"/>
              </a:defRPr>
            </a:pPr>
            <a:r>
              <a:rPr sz="1800">
                <a:solidFill>
                  <a:srgbClr val="745E4D"/>
                </a:solidFill>
                <a:latin typeface="Poppins"/>
                <a:ea typeface="Poppins"/>
                <a:cs typeface="Poppins"/>
              </a:rPr>
              <a:t>Committee referrals and suitable EA appointments for experience-based instructor, committee and event-support roles</a:t>
            </a:r>
          </a:p>
        </p:txBody>
      </p:sp>
    </p:spTree>
    <p:extLst>
      <p:ext uri="{BB962C8B-B14F-4D97-AF65-F5344CB8AC3E}">
        <p14:creationId xmlns:p14="http://schemas.microsoft.com/office/powerpoint/2010/main" val="1458709621"/>
      </p:ext>
    </p:extLst>
  </p:cSld>
</p:sld>
</file>

<file path=ppt/slides/slide11.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cce27023df643c4"/>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a6bb61af29047cd"/>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9c9d12a1a6741af"/>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CCBAA7A9-00D2-4835-88FA-8520002BF1D6}"/>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5A4E513B-6026-4BAA-9283-9E2E57F47C10}"/>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1DA2F65D-7158-47AE-A71E-94CEC90FCAE0}"/>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10</a:t>
            </a:r>
          </a:p>
        </p:txBody>
      </p:sp>
      <p:sp>
        <p:nvSpPr>
          <p:cNvPr id="7" name="slide-title">
            <a:extLst xmlns:a="http://schemas.openxmlformats.org/drawingml/2006/main">
              <a:ext uri="{FF2B5EF4-FFF2-40B4-BE49-F238E27FC236}">
                <a16:creationId xmlns:a16="http://schemas.microsoft.com/office/drawing/2014/main" id="{F0D13EBC-4E0A-4CD4-A464-D01431D98579}"/>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New Yoga Club merchandise</a:t>
            </a:r>
          </a:p>
        </p:txBody>
      </p:sp>
      <p:sp>
        <p:nvSpPr>
          <p:cNvPr id="8" name="title-rule">
            <a:extLst xmlns:a="http://schemas.openxmlformats.org/drawingml/2006/main">
              <a:ext uri="{FF2B5EF4-FFF2-40B4-BE49-F238E27FC236}">
                <a16:creationId xmlns:a16="http://schemas.microsoft.com/office/drawing/2014/main" id="{3D60299F-4B9F-42B8-AAE3-C3001084EC5D}"/>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2BB684BD-5BA4-45A4-B380-3E4D42EAEF84}"/>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336F97C3-4298-46FA-B6FA-7BB78B44871F}"/>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11</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fb84e7dbbcf4ba1"/>
          <a:srcRect xmlns:a="http://schemas.openxmlformats.org/drawingml/2006/main" l="14227" t="0" r="14227" b="0"/>
          <a:stretch xmlns:a="http://schemas.openxmlformats.org/drawingml/2006/main">
            <a:fillRect l="0" t="0" r="0" b="0"/>
          </a:stretch>
        </p:blipFill>
        <p:spPr>
          <a:xfrm xmlns:a="http://schemas.openxmlformats.org/drawingml/2006/main">
            <a:off x="11715750" y="2381250"/>
            <a:ext cx="5619750" cy="5905500"/>
          </a:xfrm>
          <a:prstGeom xmlns:a="http://schemas.openxmlformats.org/drawingml/2006/main" prst="roundRect">
            <a:avLst>
              <a:gd name="adj" fmla="val 2712"/>
            </a:avLst>
          </a:prstGeom>
        </p:spPr>
      </p:pic>
      <p:sp>
        <p:nvSpPr>
          <p:cNvPr id="12" name="">
            <a:extLst xmlns:a="http://schemas.openxmlformats.org/drawingml/2006/main">
              <a:ext uri="{FF2B5EF4-FFF2-40B4-BE49-F238E27FC236}">
                <a16:creationId xmlns:a16="http://schemas.microsoft.com/office/drawing/2014/main" id="{D9E13274-B34F-448C-A631-1383A7742E19}"/>
              </a:ext>
            </a:extLst>
          </p:cNvPr>
          <p:cNvSpPr>
            <a:spLocks xmlns:a="http://schemas.openxmlformats.org/drawingml/2006/main" noGrp="1"/>
          </p:cNvSpPr>
          <p:nvPr/>
        </p:nvSpPr>
        <p:spPr>
          <a:xfrm xmlns:a="http://schemas.openxmlformats.org/drawingml/2006/main">
            <a:off x="1047750" y="26670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HIGHER-END</a:t>
            </a:r>
          </a:p>
        </p:txBody>
      </p:sp>
      <p:sp>
        <p:nvSpPr>
          <p:cNvPr id="13" name="">
            <a:extLst xmlns:a="http://schemas.openxmlformats.org/drawingml/2006/main">
              <a:ext uri="{FF2B5EF4-FFF2-40B4-BE49-F238E27FC236}">
                <a16:creationId xmlns:a16="http://schemas.microsoft.com/office/drawing/2014/main" id="{6E424E48-2B01-481D-808F-6B0A3F61ACBA}"/>
              </a:ext>
            </a:extLst>
          </p:cNvPr>
          <p:cNvSpPr>
            <a:spLocks xmlns:a="http://schemas.openxmlformats.org/drawingml/2006/main" noGrp="1"/>
          </p:cNvSpPr>
          <p:nvPr/>
        </p:nvSpPr>
        <p:spPr>
          <a:xfrm xmlns:a="http://schemas.openxmlformats.org/drawingml/2006/main">
            <a:off x="1047750" y="3143250"/>
            <a:ext cx="923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75">
                <a:solidFill>
                  <a:srgbClr val="433831"/>
                </a:solidFill>
                <a:latin typeface="Poppins"/>
                <a:ea typeface="Poppins"/>
                <a:cs typeface="Poppins"/>
              </a:defRPr>
            </a:pPr>
            <a:r>
              <a:rPr sz="2175">
                <a:solidFill>
                  <a:srgbClr val="433831"/>
                </a:solidFill>
                <a:latin typeface="Poppins"/>
                <a:ea typeface="Poppins"/>
                <a:cs typeface="Poppins"/>
              </a:rPr>
              <a:t>Logo cape or cloak, yoga mat, yoga bricks</a:t>
            </a:r>
          </a:p>
        </p:txBody>
      </p:sp>
      <p:sp>
        <p:nvSpPr>
          <p:cNvPr id="14" name="">
            <a:extLst xmlns:a="http://schemas.openxmlformats.org/drawingml/2006/main">
              <a:ext uri="{FF2B5EF4-FFF2-40B4-BE49-F238E27FC236}">
                <a16:creationId xmlns:a16="http://schemas.microsoft.com/office/drawing/2014/main" id="{C04A394B-6D69-45ED-B232-9D0435CBAB14}"/>
              </a:ext>
            </a:extLst>
          </p:cNvPr>
          <p:cNvSpPr>
            <a:spLocks xmlns:a="http://schemas.openxmlformats.org/drawingml/2006/main" noGrp="1"/>
          </p:cNvSpPr>
          <p:nvPr/>
        </p:nvSpPr>
        <p:spPr>
          <a:xfrm xmlns:a="http://schemas.openxmlformats.org/drawingml/2006/main">
            <a:off x="1047750" y="4429125"/>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MIDDLE-RANGE</a:t>
            </a:r>
          </a:p>
        </p:txBody>
      </p:sp>
      <p:sp>
        <p:nvSpPr>
          <p:cNvPr id="15" name="">
            <a:extLst xmlns:a="http://schemas.openxmlformats.org/drawingml/2006/main">
              <a:ext uri="{FF2B5EF4-FFF2-40B4-BE49-F238E27FC236}">
                <a16:creationId xmlns:a16="http://schemas.microsoft.com/office/drawing/2014/main" id="{743C81E1-455D-4E53-ABB7-7A270E6CF87F}"/>
              </a:ext>
            </a:extLst>
          </p:cNvPr>
          <p:cNvSpPr>
            <a:spLocks xmlns:a="http://schemas.openxmlformats.org/drawingml/2006/main" noGrp="1"/>
          </p:cNvSpPr>
          <p:nvPr/>
        </p:nvSpPr>
        <p:spPr>
          <a:xfrm xmlns:a="http://schemas.openxmlformats.org/drawingml/2006/main">
            <a:off x="1047750" y="4905375"/>
            <a:ext cx="923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75">
                <a:solidFill>
                  <a:srgbClr val="433831"/>
                </a:solidFill>
                <a:latin typeface="Poppins"/>
                <a:ea typeface="Poppins"/>
                <a:cs typeface="Poppins"/>
              </a:defRPr>
            </a:pPr>
            <a:r>
              <a:rPr sz="2175">
                <a:solidFill>
                  <a:srgbClr val="433831"/>
                </a:solidFill>
                <a:latin typeface="Poppins"/>
                <a:ea typeface="Poppins"/>
                <a:cs typeface="Poppins"/>
              </a:rPr>
              <a:t>Yoga brick, T-shirt, hat, stretching strap</a:t>
            </a:r>
          </a:p>
        </p:txBody>
      </p:sp>
      <p:sp>
        <p:nvSpPr>
          <p:cNvPr id="16" name="">
            <a:extLst xmlns:a="http://schemas.openxmlformats.org/drawingml/2006/main">
              <a:ext uri="{FF2B5EF4-FFF2-40B4-BE49-F238E27FC236}">
                <a16:creationId xmlns:a16="http://schemas.microsoft.com/office/drawing/2014/main" id="{351ED417-D523-4F4F-9EF9-AA92E33B7F43}"/>
              </a:ext>
            </a:extLst>
          </p:cNvPr>
          <p:cNvSpPr>
            <a:spLocks xmlns:a="http://schemas.openxmlformats.org/drawingml/2006/main" noGrp="1"/>
          </p:cNvSpPr>
          <p:nvPr/>
        </p:nvSpPr>
        <p:spPr>
          <a:xfrm xmlns:a="http://schemas.openxmlformats.org/drawingml/2006/main">
            <a:off x="1047750" y="6191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LOWER-COST</a:t>
            </a:r>
          </a:p>
        </p:txBody>
      </p:sp>
      <p:sp>
        <p:nvSpPr>
          <p:cNvPr id="17" name="">
            <a:extLst xmlns:a="http://schemas.openxmlformats.org/drawingml/2006/main">
              <a:ext uri="{FF2B5EF4-FFF2-40B4-BE49-F238E27FC236}">
                <a16:creationId xmlns:a16="http://schemas.microsoft.com/office/drawing/2014/main" id="{B79D8820-A9FE-4446-B759-9603179CE246}"/>
              </a:ext>
            </a:extLst>
          </p:cNvPr>
          <p:cNvSpPr>
            <a:spLocks xmlns:a="http://schemas.openxmlformats.org/drawingml/2006/main" noGrp="1"/>
          </p:cNvSpPr>
          <p:nvPr/>
        </p:nvSpPr>
        <p:spPr>
          <a:xfrm xmlns:a="http://schemas.openxmlformats.org/drawingml/2006/main">
            <a:off x="1047750" y="6667500"/>
            <a:ext cx="9334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Keychain, lanyard, rubber wristband, other suitable small items</a:t>
            </a:r>
          </a:p>
        </p:txBody>
      </p:sp>
      <p:sp>
        <p:nvSpPr>
          <p:cNvPr id="18" name="">
            <a:extLst xmlns:a="http://schemas.openxmlformats.org/drawingml/2006/main">
              <a:ext uri="{FF2B5EF4-FFF2-40B4-BE49-F238E27FC236}">
                <a16:creationId xmlns:a16="http://schemas.microsoft.com/office/drawing/2014/main" id="{77F9D99E-A1F3-4884-957A-7A48A1ECB473}"/>
              </a:ext>
            </a:extLst>
          </p:cNvPr>
          <p:cNvSpPr>
            <a:spLocks xmlns:a="http://schemas.openxmlformats.org/drawingml/2006/main" noGrp="1"/>
          </p:cNvSpPr>
          <p:nvPr/>
        </p:nvSpPr>
        <p:spPr>
          <a:xfrm xmlns:a="http://schemas.openxmlformats.org/drawingml/2006/main">
            <a:off x="1047750" y="8143875"/>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875" b="1">
                <a:solidFill>
                  <a:srgbClr val="BD9479"/>
                </a:solidFill>
                <a:latin typeface="Poppins Bold"/>
                <a:ea typeface="Poppins Bold"/>
                <a:cs typeface="Poppins Bold"/>
              </a:defRPr>
            </a:pPr>
            <a:r>
              <a:rPr sz="1875" b="1">
                <a:solidFill>
                  <a:srgbClr val="BD9479"/>
                </a:solidFill>
                <a:latin typeface="Poppins Bold"/>
                <a:ea typeface="Poppins Bold"/>
                <a:cs typeface="Poppins Bold"/>
              </a:rPr>
              <a:t>Decision</a:t>
            </a:r>
          </a:p>
        </p:txBody>
      </p:sp>
      <p:sp>
        <p:nvSpPr>
          <p:cNvPr id="19" name="">
            <a:extLst xmlns:a="http://schemas.openxmlformats.org/drawingml/2006/main">
              <a:ext uri="{FF2B5EF4-FFF2-40B4-BE49-F238E27FC236}">
                <a16:creationId xmlns:a16="http://schemas.microsoft.com/office/drawing/2014/main" id="{D6E2197A-5F8F-4D1B-ADD7-4FB7C89B0FA1}"/>
              </a:ext>
            </a:extLst>
          </p:cNvPr>
          <p:cNvSpPr>
            <a:spLocks xmlns:a="http://schemas.openxmlformats.org/drawingml/2006/main" noGrp="1"/>
          </p:cNvSpPr>
          <p:nvPr/>
        </p:nvSpPr>
        <p:spPr>
          <a:xfrm xmlns:a="http://schemas.openxmlformats.org/drawingml/2006/main">
            <a:off x="2952750" y="8077200"/>
            <a:ext cx="10096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800">
                <a:solidFill>
                  <a:srgbClr val="5B4F47"/>
                </a:solidFill>
                <a:latin typeface="Poppins"/>
                <a:ea typeface="Poppins"/>
                <a:cs typeface="Poppins"/>
              </a:defRPr>
            </a:pPr>
            <a:r>
              <a:rPr sz="1800">
                <a:solidFill>
                  <a:srgbClr val="5B4F47"/>
                </a:solidFill>
                <a:latin typeface="Poppins"/>
                <a:ea typeface="Poppins"/>
                <a:cs typeface="Poppins"/>
              </a:rPr>
              <a:t>Every committee member selects at least three preferred items. Publicity designs the shortlist, the Secretary updates the proposal and the Treasurer confirms supplier pricing and pre-funding.</a:t>
            </a:r>
          </a:p>
        </p:txBody>
      </p:sp>
    </p:spTree>
    <p:extLst>
      <p:ext uri="{BB962C8B-B14F-4D97-AF65-F5344CB8AC3E}">
        <p14:creationId xmlns:p14="http://schemas.microsoft.com/office/powerpoint/2010/main" val="445342083"/>
      </p:ext>
    </p:extLst>
  </p:cSld>
</p:sld>
</file>

<file path=ppt/slides/slide12.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dfc1081afd64bdf"/>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b8364e7a2f44ca8"/>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55601211ffc41b7"/>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79C80D59-95ED-4043-855D-43EB37693F9B}"/>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10F7FEB2-DFB3-43AA-942E-D5563C64E2A1}"/>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3A9D8FF6-C097-468B-B723-3E450172ABFC}"/>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11</a:t>
            </a:r>
          </a:p>
        </p:txBody>
      </p:sp>
      <p:sp>
        <p:nvSpPr>
          <p:cNvPr id="7" name="slide-title">
            <a:extLst xmlns:a="http://schemas.openxmlformats.org/drawingml/2006/main">
              <a:ext uri="{FF2B5EF4-FFF2-40B4-BE49-F238E27FC236}">
                <a16:creationId xmlns:a16="http://schemas.microsoft.com/office/drawing/2014/main" id="{409F6EA4-6731-40CE-B344-209C23912366}"/>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Members’ Night and lucky draw</a:t>
            </a:r>
          </a:p>
        </p:txBody>
      </p:sp>
      <p:sp>
        <p:nvSpPr>
          <p:cNvPr id="8" name="title-rule">
            <a:extLst xmlns:a="http://schemas.openxmlformats.org/drawingml/2006/main">
              <a:ext uri="{FF2B5EF4-FFF2-40B4-BE49-F238E27FC236}">
                <a16:creationId xmlns:a16="http://schemas.microsoft.com/office/drawing/2014/main" id="{886B89B2-253A-4CD8-8ED9-A345F69F832C}"/>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C92FBCA6-A89B-4F2F-8EBD-AA82401F3B0B}"/>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74D93D2A-BA40-40BC-8C5C-5E03D594693A}"/>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12</a:t>
            </a:r>
          </a:p>
        </p:txBody>
      </p:sp>
      <p:sp>
        <p:nvSpPr>
          <p:cNvPr id="11" name="">
            <a:extLst xmlns:a="http://schemas.openxmlformats.org/drawingml/2006/main">
              <a:ext uri="{FF2B5EF4-FFF2-40B4-BE49-F238E27FC236}">
                <a16:creationId xmlns:a16="http://schemas.microsoft.com/office/drawing/2014/main" id="{3767F62B-AF8F-4FB3-B93C-43A4804643A3}"/>
              </a:ext>
            </a:extLst>
          </p:cNvPr>
          <p:cNvSpPr>
            <a:spLocks xmlns:a="http://schemas.openxmlformats.org/drawingml/2006/main" noGrp="1"/>
          </p:cNvSpPr>
          <p:nvPr/>
        </p:nvSpPr>
        <p:spPr>
          <a:xfrm xmlns:a="http://schemas.openxmlformats.org/drawingml/2006/main">
            <a:off x="1047750" y="28098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875" b="1">
                <a:solidFill>
                  <a:srgbClr val="BD9479"/>
                </a:solidFill>
                <a:latin typeface="Poppins Bold"/>
                <a:ea typeface="Poppins Bold"/>
                <a:cs typeface="Poppins Bold"/>
              </a:defRPr>
            </a:pPr>
            <a:r>
              <a:rPr sz="1875" b="1">
                <a:solidFill>
                  <a:srgbClr val="BD9479"/>
                </a:solidFill>
                <a:latin typeface="Poppins Bold"/>
                <a:ea typeface="Poppins Bold"/>
                <a:cs typeface="Poppins Bold"/>
              </a:rPr>
              <a:t>PURPOSE</a:t>
            </a:r>
          </a:p>
        </p:txBody>
      </p:sp>
      <p:sp>
        <p:nvSpPr>
          <p:cNvPr id="12" name="">
            <a:extLst xmlns:a="http://schemas.openxmlformats.org/drawingml/2006/main">
              <a:ext uri="{FF2B5EF4-FFF2-40B4-BE49-F238E27FC236}">
                <a16:creationId xmlns:a16="http://schemas.microsoft.com/office/drawing/2014/main" id="{55CBEE46-6609-474E-BF9B-916FAD1E9CBF}"/>
              </a:ext>
            </a:extLst>
          </p:cNvPr>
          <p:cNvSpPr>
            <a:spLocks xmlns:a="http://schemas.openxmlformats.org/drawingml/2006/main" noGrp="1"/>
          </p:cNvSpPr>
          <p:nvPr/>
        </p:nvSpPr>
        <p:spPr>
          <a:xfrm xmlns:a="http://schemas.openxmlformats.org/drawingml/2006/main">
            <a:off x="1047750" y="3381375"/>
            <a:ext cx="8286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775" b="1">
                <a:solidFill>
                  <a:srgbClr val="5B4F47"/>
                </a:solidFill>
                <a:latin typeface="Poppins Bold"/>
                <a:ea typeface="Poppins Bold"/>
                <a:cs typeface="Poppins Bold"/>
              </a:defRPr>
            </a:pPr>
            <a:r>
              <a:rPr sz="2775" b="1">
                <a:solidFill>
                  <a:srgbClr val="5B4F47"/>
                </a:solidFill>
                <a:latin typeface="Poppins Bold"/>
                <a:ea typeface="Poppins Bold"/>
                <a:cs typeface="Poppins Bold"/>
              </a:rPr>
              <a:t>Recognise regular June-class participants and welcome new club members.</a:t>
            </a:r>
          </a:p>
        </p:txBody>
      </p:sp>
      <p:sp>
        <p:nvSpPr>
          <p:cNvPr id="13" name="">
            <a:extLst xmlns:a="http://schemas.openxmlformats.org/drawingml/2006/main">
              <a:ext uri="{FF2B5EF4-FFF2-40B4-BE49-F238E27FC236}">
                <a16:creationId xmlns:a16="http://schemas.microsoft.com/office/drawing/2014/main" id="{912974B0-D3DB-49D4-BBE2-48BE5CBBAD7E}"/>
              </a:ext>
            </a:extLst>
          </p:cNvPr>
          <p:cNvSpPr>
            <a:spLocks xmlns:a="http://schemas.openxmlformats.org/drawingml/2006/main" noGrp="1"/>
          </p:cNvSpPr>
          <p:nvPr/>
        </p:nvSpPr>
        <p:spPr>
          <a:xfrm xmlns:a="http://schemas.openxmlformats.org/drawingml/2006/main">
            <a:off x="1047750" y="5191125"/>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POSSIBLE MEMBER BENEFITS</a:t>
            </a:r>
          </a:p>
        </p:txBody>
      </p:sp>
      <p:sp>
        <p:nvSpPr>
          <p:cNvPr id="14" name="">
            <a:extLst xmlns:a="http://schemas.openxmlformats.org/drawingml/2006/main">
              <a:ext uri="{FF2B5EF4-FFF2-40B4-BE49-F238E27FC236}">
                <a16:creationId xmlns:a16="http://schemas.microsoft.com/office/drawing/2014/main" id="{103005CE-AD38-4839-9E62-5D1E1B438912}"/>
              </a:ext>
            </a:extLst>
          </p:cNvPr>
          <p:cNvSpPr>
            <a:spLocks xmlns:a="http://schemas.openxmlformats.org/drawingml/2006/main" noGrp="1"/>
          </p:cNvSpPr>
          <p:nvPr/>
        </p:nvSpPr>
        <p:spPr>
          <a:xfrm xmlns:a="http://schemas.openxmlformats.org/drawingml/2006/main">
            <a:off x="1047750" y="5715000"/>
            <a:ext cx="8191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Free food or health-oriented gifts</a:t>
            </a:r>
          </a:p>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Selected club merchandise in the lucky draw pool</a:t>
            </a:r>
          </a:p>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Feedback survey and promotion of upcoming yoga classes</a:t>
            </a:r>
          </a:p>
        </p:txBody>
      </p:sp>
      <p:sp>
        <p:nvSpPr>
          <p:cNvPr id="15" name="budget-field">
            <a:extLst xmlns:a="http://schemas.openxmlformats.org/drawingml/2006/main">
              <a:ext uri="{FF2B5EF4-FFF2-40B4-BE49-F238E27FC236}">
                <a16:creationId xmlns:a16="http://schemas.microsoft.com/office/drawing/2014/main" id="{698A4F13-718F-40E6-9D34-CB383FEC15D6}"/>
              </a:ext>
            </a:extLst>
          </p:cNvPr>
          <p:cNvSpPr>
            <a:spLocks xmlns:a="http://schemas.openxmlformats.org/drawingml/2006/main" noGrp="1"/>
          </p:cNvSpPr>
          <p:nvPr/>
        </p:nvSpPr>
        <p:spPr>
          <a:xfrm xmlns:a="http://schemas.openxmlformats.org/drawingml/2006/main">
            <a:off x="10763250" y="2857500"/>
            <a:ext cx="5238750" cy="5238750"/>
          </a:xfrm>
          <a:prstGeom xmlns:a="http://schemas.openxmlformats.org/drawingml/2006/main" prst="rect">
            <a:avLst/>
          </a:prstGeom>
          <a:solidFill xmlns:a="http://schemas.openxmlformats.org/drawingml/2006/main">
            <a:srgbClr val="F4EBE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3F3F632-9A35-4119-A4E1-2B299C6B1328}"/>
              </a:ext>
            </a:extLst>
          </p:cNvPr>
          <p:cNvSpPr>
            <a:spLocks xmlns:a="http://schemas.openxmlformats.org/drawingml/2006/main" noGrp="1"/>
          </p:cNvSpPr>
          <p:nvPr/>
        </p:nvSpPr>
        <p:spPr>
          <a:xfrm xmlns:a="http://schemas.openxmlformats.org/drawingml/2006/main">
            <a:off x="11334750" y="3619500"/>
            <a:ext cx="409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800" b="1">
                <a:solidFill>
                  <a:srgbClr val="BD9479"/>
                </a:solidFill>
                <a:latin typeface="Poppins Bold"/>
                <a:ea typeface="Poppins Bold"/>
                <a:cs typeface="Poppins Bold"/>
              </a:defRPr>
            </a:pPr>
            <a:r>
              <a:rPr sz="1800" b="1">
                <a:solidFill>
                  <a:srgbClr val="BD9479"/>
                </a:solidFill>
                <a:latin typeface="Poppins Bold"/>
                <a:ea typeface="Poppins Bold"/>
                <a:cs typeface="Poppins Bold"/>
              </a:rPr>
              <a:t>BUDGET CONDITION</a:t>
            </a:r>
          </a:p>
        </p:txBody>
      </p:sp>
      <p:sp>
        <p:nvSpPr>
          <p:cNvPr id="17" name="">
            <a:extLst xmlns:a="http://schemas.openxmlformats.org/drawingml/2006/main">
              <a:ext uri="{FF2B5EF4-FFF2-40B4-BE49-F238E27FC236}">
                <a16:creationId xmlns:a16="http://schemas.microsoft.com/office/drawing/2014/main" id="{8984BE71-34E3-4C45-934E-8C74CA65A01A}"/>
              </a:ext>
            </a:extLst>
          </p:cNvPr>
          <p:cNvSpPr>
            <a:spLocks xmlns:a="http://schemas.openxmlformats.org/drawingml/2006/main" noGrp="1"/>
          </p:cNvSpPr>
          <p:nvPr/>
        </p:nvSpPr>
        <p:spPr>
          <a:xfrm xmlns:a="http://schemas.openxmlformats.org/drawingml/2006/main">
            <a:off x="11334750" y="4429125"/>
            <a:ext cx="4095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700" b="1">
                <a:solidFill>
                  <a:srgbClr val="5B4F47"/>
                </a:solidFill>
                <a:latin typeface="Poppins Bold"/>
                <a:ea typeface="Poppins Bold"/>
                <a:cs typeface="Poppins Bold"/>
              </a:defRPr>
            </a:pPr>
            <a:r>
              <a:rPr sz="2700" b="1">
                <a:solidFill>
                  <a:srgbClr val="5B4F47"/>
                </a:solidFill>
                <a:latin typeface="Poppins Bold"/>
                <a:ea typeface="Poppins Bold"/>
                <a:cs typeface="Poppins Bold"/>
              </a:rPr>
              <a:t>Club funding for the lucky draw requires budget review and approval before commitment.</a:t>
            </a:r>
          </a:p>
        </p:txBody>
      </p:sp>
    </p:spTree>
    <p:extLst>
      <p:ext uri="{BB962C8B-B14F-4D97-AF65-F5344CB8AC3E}">
        <p14:creationId xmlns:p14="http://schemas.microsoft.com/office/powerpoint/2010/main" val="1815222079"/>
      </p:ext>
    </p:extLst>
  </p:cSld>
</p:sld>
</file>

<file path=ppt/slides/slide13.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4d3c2590af04926"/>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3ba1849d6764c76"/>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a85e94ec7db468e"/>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BE08965A-C40D-4456-B924-9DE007CCEA17}"/>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7C9E3056-577B-4F01-87CC-0014774E64E4}"/>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35A08729-D901-4B8E-BC3B-EEB71B0CA7E8}"/>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12</a:t>
            </a:r>
          </a:p>
        </p:txBody>
      </p:sp>
      <p:sp>
        <p:nvSpPr>
          <p:cNvPr id="7" name="slide-title">
            <a:extLst xmlns:a="http://schemas.openxmlformats.org/drawingml/2006/main">
              <a:ext uri="{FF2B5EF4-FFF2-40B4-BE49-F238E27FC236}">
                <a16:creationId xmlns:a16="http://schemas.microsoft.com/office/drawing/2014/main" id="{C1DD7873-853E-4EAC-84B4-9A31B4F22D80}"/>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Meditation and practice-class pilot</a:t>
            </a:r>
          </a:p>
        </p:txBody>
      </p:sp>
      <p:sp>
        <p:nvSpPr>
          <p:cNvPr id="8" name="title-rule">
            <a:extLst xmlns:a="http://schemas.openxmlformats.org/drawingml/2006/main">
              <a:ext uri="{FF2B5EF4-FFF2-40B4-BE49-F238E27FC236}">
                <a16:creationId xmlns:a16="http://schemas.microsoft.com/office/drawing/2014/main" id="{01CEED3B-BE3A-4FA5-AF02-67701FFD00FB}"/>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FBFF74FC-F39A-4A1E-9A4F-06DBD9D6E5B3}"/>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CBDC9358-FBB4-4122-ACE2-417E03AA3A26}"/>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13</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537326551704dc3"/>
          <a:srcRect xmlns:a="http://schemas.openxmlformats.org/drawingml/2006/main" l="14075" t="0" r="14075" b="0"/>
          <a:stretch xmlns:a="http://schemas.openxmlformats.org/drawingml/2006/main">
            <a:fillRect l="0" t="0" r="0" b="0"/>
          </a:stretch>
        </p:blipFill>
        <p:spPr>
          <a:xfrm xmlns:a="http://schemas.openxmlformats.org/drawingml/2006/main">
            <a:off x="10382250" y="2524125"/>
            <a:ext cx="6667500" cy="6191250"/>
          </a:xfrm>
          <a:prstGeom xmlns:a="http://schemas.openxmlformats.org/drawingml/2006/main" prst="roundRect">
            <a:avLst>
              <a:gd name="adj" fmla="val 2462"/>
            </a:avLst>
          </a:prstGeom>
        </p:spPr>
      </p:pic>
      <p:sp>
        <p:nvSpPr>
          <p:cNvPr id="12" name="">
            <a:extLst xmlns:a="http://schemas.openxmlformats.org/drawingml/2006/main">
              <a:ext uri="{FF2B5EF4-FFF2-40B4-BE49-F238E27FC236}">
                <a16:creationId xmlns:a16="http://schemas.microsoft.com/office/drawing/2014/main" id="{79C73EC9-7A87-48FF-82D5-56E87DBDE8B1}"/>
              </a:ext>
            </a:extLst>
          </p:cNvPr>
          <p:cNvSpPr>
            <a:spLocks xmlns:a="http://schemas.openxmlformats.org/drawingml/2006/main" noGrp="1"/>
          </p:cNvSpPr>
          <p:nvPr/>
        </p:nvSpPr>
        <p:spPr>
          <a:xfrm xmlns:a="http://schemas.openxmlformats.org/drawingml/2006/main">
            <a:off x="1047750" y="26670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PILOT FORMAT</a:t>
            </a:r>
          </a:p>
        </p:txBody>
      </p:sp>
      <p:sp>
        <p:nvSpPr>
          <p:cNvPr id="13" name="">
            <a:extLst xmlns:a="http://schemas.openxmlformats.org/drawingml/2006/main">
              <a:ext uri="{FF2B5EF4-FFF2-40B4-BE49-F238E27FC236}">
                <a16:creationId xmlns:a16="http://schemas.microsoft.com/office/drawing/2014/main" id="{59FBC486-DEF9-4F0E-B7FC-6CB737E692C9}"/>
              </a:ext>
            </a:extLst>
          </p:cNvPr>
          <p:cNvSpPr>
            <a:spLocks xmlns:a="http://schemas.openxmlformats.org/drawingml/2006/main" noGrp="1"/>
          </p:cNvSpPr>
          <p:nvPr/>
        </p:nvSpPr>
        <p:spPr>
          <a:xfrm xmlns:a="http://schemas.openxmlformats.org/drawingml/2006/main">
            <a:off x="1047750" y="3190875"/>
            <a:ext cx="80962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Meditation, additional yoga practice, or both</a:t>
            </a:r>
          </a:p>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One selected day or a weekly format</a:t>
            </a:r>
          </a:p>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Potentially delivered fully by student instructors</a:t>
            </a:r>
          </a:p>
          <a:p xmlns:a="http://schemas.openxmlformats.org/drawingml/2006/main">
            <a:pPr marL="254000" indent="-127000">
              <a:spcAft>
                <a:spcPts val="1000"/>
              </a:spcAft>
              <a:buChar char="•"/>
              <a:defRPr sz="2100">
                <a:solidFill>
                  <a:srgbClr val="433831"/>
                </a:solidFill>
                <a:latin typeface="Poppins"/>
                <a:ea typeface="Poppins"/>
                <a:cs typeface="Poppins"/>
              </a:defRPr>
            </a:pPr>
            <a:r>
              <a:rPr sz="2100">
                <a:solidFill>
                  <a:srgbClr val="433831"/>
                </a:solidFill>
                <a:latin typeface="Poppins"/>
                <a:ea typeface="Poppins"/>
                <a:cs typeface="Poppins"/>
              </a:rPr>
              <a:t>Location and participation fee remain to be confirmed</a:t>
            </a:r>
          </a:p>
        </p:txBody>
      </p:sp>
      <p:sp>
        <p:nvSpPr>
          <p:cNvPr id="14" name="">
            <a:extLst xmlns:a="http://schemas.openxmlformats.org/drawingml/2006/main">
              <a:ext uri="{FF2B5EF4-FFF2-40B4-BE49-F238E27FC236}">
                <a16:creationId xmlns:a16="http://schemas.microsoft.com/office/drawing/2014/main" id="{71F682B8-9E98-450C-BFAC-17A420ED4EF6}"/>
              </a:ext>
            </a:extLst>
          </p:cNvPr>
          <p:cNvSpPr>
            <a:spLocks xmlns:a="http://schemas.openxmlformats.org/drawingml/2006/main" noGrp="1"/>
          </p:cNvSpPr>
          <p:nvPr/>
        </p:nvSpPr>
        <p:spPr>
          <a:xfrm xmlns:a="http://schemas.openxmlformats.org/drawingml/2006/main">
            <a:off x="1047750" y="68580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745E4D"/>
                </a:solidFill>
                <a:latin typeface="Poppins Bold"/>
                <a:ea typeface="Poppins Bold"/>
                <a:cs typeface="Poppins Bold"/>
              </a:defRPr>
            </a:pPr>
            <a:r>
              <a:rPr sz="1725" b="1">
                <a:solidFill>
                  <a:srgbClr val="745E4D"/>
                </a:solidFill>
                <a:latin typeface="Poppins Bold"/>
                <a:ea typeface="Poppins Bold"/>
                <a:cs typeface="Poppins Bold"/>
              </a:rPr>
              <a:t>SERVICE CERTIFICATION</a:t>
            </a:r>
          </a:p>
        </p:txBody>
      </p:sp>
      <p:sp>
        <p:nvSpPr>
          <p:cNvPr id="15" name="">
            <a:extLst xmlns:a="http://schemas.openxmlformats.org/drawingml/2006/main">
              <a:ext uri="{FF2B5EF4-FFF2-40B4-BE49-F238E27FC236}">
                <a16:creationId xmlns:a16="http://schemas.microsoft.com/office/drawing/2014/main" id="{8EA574B1-8542-4B54-811D-51CE37102DD7}"/>
              </a:ext>
            </a:extLst>
          </p:cNvPr>
          <p:cNvSpPr>
            <a:spLocks xmlns:a="http://schemas.openxmlformats.org/drawingml/2006/main" noGrp="1"/>
          </p:cNvSpPr>
          <p:nvPr/>
        </p:nvSpPr>
        <p:spPr>
          <a:xfrm xmlns:a="http://schemas.openxmlformats.org/drawingml/2006/main">
            <a:off x="1047750" y="7381875"/>
            <a:ext cx="8382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Yearly certificates may record the number of events, total service hours and the individual’s role in instruction, organisation or publicity.</a:t>
            </a:r>
          </a:p>
        </p:txBody>
      </p:sp>
    </p:spTree>
    <p:extLst>
      <p:ext uri="{BB962C8B-B14F-4D97-AF65-F5344CB8AC3E}">
        <p14:creationId xmlns:p14="http://schemas.microsoft.com/office/powerpoint/2010/main" val="1094786671"/>
      </p:ext>
    </p:extLst>
  </p:cSld>
</p:sld>
</file>

<file path=ppt/slides/slide14.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4cb0d123d2c435a"/>
          <a:srcRect xmlns:a="http://schemas.openxmlformats.org/drawingml/2006/main" l="14429" t="0" r="14429"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7a1b7c608ea4159"/>
          <a:stretch xmlns:a="http://schemas.openxmlformats.org/drawingml/2006/main"/>
        </p:blipFill>
        <p:spPr>
          <a:xfrm xmlns:a="http://schemas.openxmlformats.org/drawingml/2006/main">
            <a:off x="15240000" y="7239000"/>
            <a:ext cx="3048000" cy="304800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383b0f31eab43e7"/>
          <a:stretch xmlns:a="http://schemas.openxmlformats.org/drawingml/2006/main"/>
        </p:blipFill>
        <p:spPr>
          <a:xfrm xmlns:a="http://schemas.openxmlformats.org/drawingml/2006/main">
            <a:off x="428625" y="238125"/>
            <a:ext cx="742950" cy="742950"/>
          </a:xfrm>
          <a:prstGeom xmlns:a="http://schemas.openxmlformats.org/drawingml/2006/main" prst="rect">
            <a:avLst/>
          </a:prstGeom>
        </p:spPr>
      </p:pic>
      <p:sp>
        <p:nvSpPr>
          <p:cNvPr id="4" name="club-label-band">
            <a:extLst xmlns:a="http://schemas.openxmlformats.org/drawingml/2006/main">
              <a:ext uri="{FF2B5EF4-FFF2-40B4-BE49-F238E27FC236}">
                <a16:creationId xmlns:a16="http://schemas.microsoft.com/office/drawing/2014/main" id="{649BC109-A6FD-4C6E-8CEB-28782E68704C}"/>
              </a:ext>
            </a:extLst>
          </p:cNvPr>
          <p:cNvSpPr>
            <a:spLocks xmlns:a="http://schemas.openxmlformats.org/drawingml/2006/main" noGrp="1"/>
          </p:cNvSpPr>
          <p:nvPr/>
        </p:nvSpPr>
        <p:spPr>
          <a:xfrm xmlns:a="http://schemas.openxmlformats.org/drawingml/2006/main">
            <a:off x="1304925" y="390525"/>
            <a:ext cx="2428875" cy="400050"/>
          </a:xfrm>
          <a:prstGeom xmlns:a="http://schemas.openxmlformats.org/drawingml/2006/main" prst="rect">
            <a:avLst/>
          </a:prstGeom>
          <a:solidFill xmlns:a="http://schemas.openxmlformats.org/drawingml/2006/main">
            <a:srgbClr val="5B4F47"/>
          </a:solidFill>
          <a:ln xmlns:a="http://schemas.openxmlformats.org/drawingml/2006/main" w="0">
            <a:noFill/>
            <a:prstDash val="solid"/>
          </a:ln>
        </p:spPr>
      </p:sp>
      <p:sp>
        <p:nvSpPr>
          <p:cNvPr id="5" name="club-label">
            <a:extLst xmlns:a="http://schemas.openxmlformats.org/drawingml/2006/main">
              <a:ext uri="{FF2B5EF4-FFF2-40B4-BE49-F238E27FC236}">
                <a16:creationId xmlns:a16="http://schemas.microsoft.com/office/drawing/2014/main" id="{DC6678AC-ACA2-4A63-916F-6001901C57A3}"/>
              </a:ext>
            </a:extLst>
          </p:cNvPr>
          <p:cNvSpPr>
            <a:spLocks xmlns:a="http://schemas.openxmlformats.org/drawingml/2006/main" noGrp="1"/>
          </p:cNvSpPr>
          <p:nvPr/>
        </p:nvSpPr>
        <p:spPr>
          <a:xfrm xmlns:a="http://schemas.openxmlformats.org/drawingml/2006/main">
            <a:off x="1495425" y="428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Poppins Bold"/>
                <a:ea typeface="Poppins Bold"/>
                <a:cs typeface="Poppins Bold"/>
              </a:defRPr>
            </a:pPr>
            <a:r>
              <a:rPr sz="1425" b="1">
                <a:solidFill>
                  <a:srgbClr val="FFFFFF"/>
                </a:solidFill>
                <a:latin typeface="Poppins Bold"/>
                <a:ea typeface="Poppins Bold"/>
                <a:cs typeface="Poppins Bold"/>
              </a:rPr>
              <a:t>UTAR SL YOGA CLUB</a:t>
            </a:r>
          </a:p>
        </p:txBody>
      </p:sp>
      <p:sp>
        <p:nvSpPr>
          <p:cNvPr id="6" name="section-number">
            <a:extLst xmlns:a="http://schemas.openxmlformats.org/drawingml/2006/main">
              <a:ext uri="{FF2B5EF4-FFF2-40B4-BE49-F238E27FC236}">
                <a16:creationId xmlns:a16="http://schemas.microsoft.com/office/drawing/2014/main" id="{4973E093-B553-4080-AF1B-847C9FD595E2}"/>
              </a:ext>
            </a:extLst>
          </p:cNvPr>
          <p:cNvSpPr>
            <a:spLocks xmlns:a="http://schemas.openxmlformats.org/drawingml/2006/main" noGrp="1"/>
          </p:cNvSpPr>
          <p:nvPr/>
        </p:nvSpPr>
        <p:spPr>
          <a:xfrm xmlns:a="http://schemas.openxmlformats.org/drawingml/2006/main">
            <a:off x="15716250" y="438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00" b="1">
                <a:solidFill>
                  <a:srgbClr val="BD9479"/>
                </a:solidFill>
                <a:latin typeface="Poppins Bold"/>
                <a:ea typeface="Poppins Bold"/>
                <a:cs typeface="Poppins Bold"/>
              </a:defRPr>
            </a:pPr>
            <a:r>
              <a:rPr sz="1500" b="1">
                <a:solidFill>
                  <a:srgbClr val="BD9479"/>
                </a:solidFill>
                <a:latin typeface="Poppins Bold"/>
                <a:ea typeface="Poppins Bold"/>
                <a:cs typeface="Poppins Bold"/>
              </a:rPr>
              <a:t>13</a:t>
            </a:r>
          </a:p>
        </p:txBody>
      </p:sp>
      <p:sp>
        <p:nvSpPr>
          <p:cNvPr id="7" name="slide-title">
            <a:extLst xmlns:a="http://schemas.openxmlformats.org/drawingml/2006/main">
              <a:ext uri="{FF2B5EF4-FFF2-40B4-BE49-F238E27FC236}">
                <a16:creationId xmlns:a16="http://schemas.microsoft.com/office/drawing/2014/main" id="{8241A643-2573-4934-BAD0-73DF9254885F}"/>
              </a:ext>
            </a:extLst>
          </p:cNvPr>
          <p:cNvSpPr>
            <a:spLocks xmlns:a="http://schemas.openxmlformats.org/drawingml/2006/main" noGrp="1"/>
          </p:cNvSpPr>
          <p:nvPr/>
        </p:nvSpPr>
        <p:spPr>
          <a:xfrm xmlns:a="http://schemas.openxmlformats.org/drawingml/2006/main">
            <a:off x="1047750" y="1143000"/>
            <a:ext cx="14859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900" b="1">
                <a:solidFill>
                  <a:srgbClr val="5B4F47"/>
                </a:solidFill>
                <a:latin typeface="Poppins Bold"/>
                <a:ea typeface="Poppins Bold"/>
                <a:cs typeface="Poppins Bold"/>
              </a:defRPr>
            </a:pPr>
            <a:r>
              <a:rPr sz="3900" b="1">
                <a:solidFill>
                  <a:srgbClr val="5B4F47"/>
                </a:solidFill>
                <a:latin typeface="Poppins Bold"/>
                <a:ea typeface="Poppins Bold"/>
                <a:cs typeface="Poppins Bold"/>
              </a:rPr>
              <a:t>Open matters and governance checks</a:t>
            </a:r>
          </a:p>
        </p:txBody>
      </p:sp>
      <p:sp>
        <p:nvSpPr>
          <p:cNvPr id="8" name="title-rule">
            <a:extLst xmlns:a="http://schemas.openxmlformats.org/drawingml/2006/main">
              <a:ext uri="{FF2B5EF4-FFF2-40B4-BE49-F238E27FC236}">
                <a16:creationId xmlns:a16="http://schemas.microsoft.com/office/drawing/2014/main" id="{20A5F761-17B1-44C3-9AD4-206E55979E18}"/>
              </a:ext>
            </a:extLst>
          </p:cNvPr>
          <p:cNvSpPr>
            <a:spLocks xmlns:a="http://schemas.openxmlformats.org/drawingml/2006/main" noGrp="1"/>
          </p:cNvSpPr>
          <p:nvPr/>
        </p:nvSpPr>
        <p:spPr>
          <a:xfrm xmlns:a="http://schemas.openxmlformats.org/drawingml/2006/main">
            <a:off x="1047750" y="2114550"/>
            <a:ext cx="1123950" cy="76200"/>
          </a:xfrm>
          <a:prstGeom xmlns:a="http://schemas.openxmlformats.org/drawingml/2006/main" prst="rect">
            <a:avLst/>
          </a:prstGeom>
          <a:solidFill xmlns:a="http://schemas.openxmlformats.org/drawingml/2006/main">
            <a:srgbClr val="BD9479"/>
          </a:solidFill>
          <a:ln xmlns:a="http://schemas.openxmlformats.org/drawingml/2006/main" w="0">
            <a:noFill/>
            <a:prstDash val="solid"/>
          </a:ln>
        </p:spPr>
      </p:sp>
      <p:sp>
        <p:nvSpPr>
          <p:cNvPr id="9" name="footer-source">
            <a:extLst xmlns:a="http://schemas.openxmlformats.org/drawingml/2006/main">
              <a:ext uri="{FF2B5EF4-FFF2-40B4-BE49-F238E27FC236}">
                <a16:creationId xmlns:a16="http://schemas.microsoft.com/office/drawing/2014/main" id="{90B9A874-732D-4721-8D47-8A90D7C5F3AF}"/>
              </a:ext>
            </a:extLst>
          </p:cNvPr>
          <p:cNvSpPr>
            <a:spLocks xmlns:a="http://schemas.openxmlformats.org/drawingml/2006/main" noGrp="1"/>
          </p:cNvSpPr>
          <p:nvPr/>
        </p:nvSpPr>
        <p:spPr>
          <a:xfrm xmlns:a="http://schemas.openxmlformats.org/drawingml/2006/main">
            <a:off x="1047750" y="9639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a:solidFill>
                  <a:srgbClr val="766B64"/>
                </a:solidFill>
                <a:latin typeface="Poppins"/>
                <a:ea typeface="Poppins"/>
                <a:cs typeface="Poppins"/>
              </a:defRPr>
            </a:pPr>
            <a:r>
              <a:rPr sz="1350">
                <a:solidFill>
                  <a:srgbClr val="766B64"/>
                </a:solidFill>
                <a:latin typeface="Poppins"/>
                <a:ea typeface="Poppins"/>
                <a:cs typeface="Poppins"/>
              </a:rPr>
              <a:t>EXCO MEETING, 11 SEPTEMBER 2026</a:t>
            </a:r>
          </a:p>
        </p:txBody>
      </p:sp>
      <p:sp>
        <p:nvSpPr>
          <p:cNvPr id="10" name="folio">
            <a:extLst xmlns:a="http://schemas.openxmlformats.org/drawingml/2006/main">
              <a:ext uri="{FF2B5EF4-FFF2-40B4-BE49-F238E27FC236}">
                <a16:creationId xmlns:a16="http://schemas.microsoft.com/office/drawing/2014/main" id="{5ED7CA35-1BD1-4FD2-B9E3-F1D59CCA736D}"/>
              </a:ext>
            </a:extLst>
          </p:cNvPr>
          <p:cNvSpPr>
            <a:spLocks xmlns:a="http://schemas.openxmlformats.org/drawingml/2006/main" noGrp="1"/>
          </p:cNvSpPr>
          <p:nvPr/>
        </p:nvSpPr>
        <p:spPr>
          <a:xfrm xmlns:a="http://schemas.openxmlformats.org/drawingml/2006/main">
            <a:off x="16897350" y="96202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350" b="1">
                <a:solidFill>
                  <a:srgbClr val="5B4F47"/>
                </a:solidFill>
                <a:latin typeface="Poppins Bold"/>
                <a:ea typeface="Poppins Bold"/>
                <a:cs typeface="Poppins Bold"/>
              </a:defRPr>
            </a:pPr>
            <a:r>
              <a:rPr sz="1350" b="1">
                <a:solidFill>
                  <a:srgbClr val="5B4F47"/>
                </a:solidFill>
                <a:latin typeface="Poppins Bold"/>
                <a:ea typeface="Poppins Bold"/>
                <a:cs typeface="Poppins Bold"/>
              </a:rPr>
              <a:t>14</a:t>
            </a:r>
          </a:p>
        </p:txBody>
      </p:sp>
      <p:sp>
        <p:nvSpPr>
          <p:cNvPr id="11" name="">
            <a:extLst xmlns:a="http://schemas.openxmlformats.org/drawingml/2006/main">
              <a:ext uri="{FF2B5EF4-FFF2-40B4-BE49-F238E27FC236}">
                <a16:creationId xmlns:a16="http://schemas.microsoft.com/office/drawing/2014/main" id="{426AE7D5-9B96-4796-BC2C-0B6B2DF970E5}"/>
              </a:ext>
            </a:extLst>
          </p:cNvPr>
          <p:cNvSpPr>
            <a:spLocks xmlns:a="http://schemas.openxmlformats.org/drawingml/2006/main" noGrp="1"/>
          </p:cNvSpPr>
          <p:nvPr/>
        </p:nvSpPr>
        <p:spPr>
          <a:xfrm xmlns:a="http://schemas.openxmlformats.org/drawingml/2006/main">
            <a:off x="1047750" y="28575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BD9479"/>
                </a:solidFill>
                <a:latin typeface="Poppins Bold"/>
                <a:ea typeface="Poppins Bold"/>
                <a:cs typeface="Poppins Bold"/>
              </a:defRPr>
            </a:pPr>
            <a:r>
              <a:rPr sz="1725" b="1">
                <a:solidFill>
                  <a:srgbClr val="BD9479"/>
                </a:solidFill>
                <a:latin typeface="Poppins Bold"/>
                <a:ea typeface="Poppins Bold"/>
                <a:cs typeface="Poppins Bold"/>
              </a:rPr>
              <a:t>YOGA DAY</a:t>
            </a:r>
          </a:p>
        </p:txBody>
      </p:sp>
      <p:sp>
        <p:nvSpPr>
          <p:cNvPr id="12" name="">
            <a:extLst xmlns:a="http://schemas.openxmlformats.org/drawingml/2006/main">
              <a:ext uri="{FF2B5EF4-FFF2-40B4-BE49-F238E27FC236}">
                <a16:creationId xmlns:a16="http://schemas.microsoft.com/office/drawing/2014/main" id="{40F2D32D-7BA3-4D6C-B46E-0C5C2E4B3423}"/>
              </a:ext>
            </a:extLst>
          </p:cNvPr>
          <p:cNvSpPr>
            <a:spLocks xmlns:a="http://schemas.openxmlformats.org/drawingml/2006/main" noGrp="1"/>
          </p:cNvSpPr>
          <p:nvPr/>
        </p:nvSpPr>
        <p:spPr>
          <a:xfrm xmlns:a="http://schemas.openxmlformats.org/drawingml/2006/main">
            <a:off x="4000500" y="283845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Consult Ms Belinda on information and approval requirements for a larger-scale event.</a:t>
            </a:r>
          </a:p>
        </p:txBody>
      </p:sp>
      <p:sp>
        <p:nvSpPr>
          <p:cNvPr id="13" name="">
            <a:extLst xmlns:a="http://schemas.openxmlformats.org/drawingml/2006/main">
              <a:ext uri="{FF2B5EF4-FFF2-40B4-BE49-F238E27FC236}">
                <a16:creationId xmlns:a16="http://schemas.microsoft.com/office/drawing/2014/main" id="{1C2E36B9-B5E7-43E1-A672-4F8D62F1DB86}"/>
              </a:ext>
            </a:extLst>
          </p:cNvPr>
          <p:cNvSpPr>
            <a:spLocks xmlns:a="http://schemas.openxmlformats.org/drawingml/2006/main" noGrp="1"/>
          </p:cNvSpPr>
          <p:nvPr/>
        </p:nvSpPr>
        <p:spPr>
          <a:xfrm xmlns:a="http://schemas.openxmlformats.org/drawingml/2006/main">
            <a:off x="1047750" y="40957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BD9479"/>
                </a:solidFill>
                <a:latin typeface="Poppins Bold"/>
                <a:ea typeface="Poppins Bold"/>
                <a:cs typeface="Poppins Bold"/>
              </a:defRPr>
            </a:pPr>
            <a:r>
              <a:rPr sz="1725" b="1">
                <a:solidFill>
                  <a:srgbClr val="BD9479"/>
                </a:solidFill>
                <a:latin typeface="Poppins Bold"/>
                <a:ea typeface="Poppins Bold"/>
                <a:cs typeface="Poppins Bold"/>
              </a:rPr>
              <a:t>ATTENDANCE</a:t>
            </a:r>
          </a:p>
        </p:txBody>
      </p:sp>
      <p:sp>
        <p:nvSpPr>
          <p:cNvPr id="14" name="">
            <a:extLst xmlns:a="http://schemas.openxmlformats.org/drawingml/2006/main">
              <a:ext uri="{FF2B5EF4-FFF2-40B4-BE49-F238E27FC236}">
                <a16:creationId xmlns:a16="http://schemas.microsoft.com/office/drawing/2014/main" id="{7FCCB006-E476-44F6-9B9A-A973C9FE67D7}"/>
              </a:ext>
            </a:extLst>
          </p:cNvPr>
          <p:cNvSpPr>
            <a:spLocks xmlns:a="http://schemas.openxmlformats.org/drawingml/2006/main" noGrp="1"/>
          </p:cNvSpPr>
          <p:nvPr/>
        </p:nvSpPr>
        <p:spPr>
          <a:xfrm xmlns:a="http://schemas.openxmlformats.org/drawingml/2006/main">
            <a:off x="4000500" y="407670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Agree an improved recording method for weekly classes and other activities.</a:t>
            </a:r>
          </a:p>
        </p:txBody>
      </p:sp>
      <p:sp>
        <p:nvSpPr>
          <p:cNvPr id="15" name="">
            <a:extLst xmlns:a="http://schemas.openxmlformats.org/drawingml/2006/main">
              <a:ext uri="{FF2B5EF4-FFF2-40B4-BE49-F238E27FC236}">
                <a16:creationId xmlns:a16="http://schemas.microsoft.com/office/drawing/2014/main" id="{BAD49B25-A979-4FEB-B3B3-2020C7A7D80D}"/>
              </a:ext>
            </a:extLst>
          </p:cNvPr>
          <p:cNvSpPr>
            <a:spLocks xmlns:a="http://schemas.openxmlformats.org/drawingml/2006/main" noGrp="1"/>
          </p:cNvSpPr>
          <p:nvPr/>
        </p:nvSpPr>
        <p:spPr>
          <a:xfrm xmlns:a="http://schemas.openxmlformats.org/drawingml/2006/main">
            <a:off x="1047750" y="53340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BD9479"/>
                </a:solidFill>
                <a:latin typeface="Poppins Bold"/>
                <a:ea typeface="Poppins Bold"/>
                <a:cs typeface="Poppins Bold"/>
              </a:defRPr>
            </a:pPr>
            <a:r>
              <a:rPr sz="1725" b="1">
                <a:solidFill>
                  <a:srgbClr val="BD9479"/>
                </a:solidFill>
                <a:latin typeface="Poppins Bold"/>
                <a:ea typeface="Poppins Bold"/>
                <a:cs typeface="Poppins Bold"/>
              </a:rPr>
              <a:t>WEBSITE</a:t>
            </a:r>
          </a:p>
        </p:txBody>
      </p:sp>
      <p:sp>
        <p:nvSpPr>
          <p:cNvPr id="16" name="">
            <a:extLst xmlns:a="http://schemas.openxmlformats.org/drawingml/2006/main">
              <a:ext uri="{FF2B5EF4-FFF2-40B4-BE49-F238E27FC236}">
                <a16:creationId xmlns:a16="http://schemas.microsoft.com/office/drawing/2014/main" id="{2A559EF5-1D5F-4816-B4F0-F306ADC4738F}"/>
              </a:ext>
            </a:extLst>
          </p:cNvPr>
          <p:cNvSpPr>
            <a:spLocks xmlns:a="http://schemas.openxmlformats.org/drawingml/2006/main" noGrp="1"/>
          </p:cNvSpPr>
          <p:nvPr/>
        </p:nvSpPr>
        <p:spPr>
          <a:xfrm xmlns:a="http://schemas.openxmlformats.org/drawingml/2006/main">
            <a:off x="4000500" y="531495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Determine which record, fee and receipt functions should move into the proposed club website.</a:t>
            </a:r>
          </a:p>
        </p:txBody>
      </p:sp>
      <p:sp>
        <p:nvSpPr>
          <p:cNvPr id="17" name="">
            <a:extLst xmlns:a="http://schemas.openxmlformats.org/drawingml/2006/main">
              <a:ext uri="{FF2B5EF4-FFF2-40B4-BE49-F238E27FC236}">
                <a16:creationId xmlns:a16="http://schemas.microsoft.com/office/drawing/2014/main" id="{7C8903C8-03F0-48F6-B294-835C8FFE533D}"/>
              </a:ext>
            </a:extLst>
          </p:cNvPr>
          <p:cNvSpPr>
            <a:spLocks xmlns:a="http://schemas.openxmlformats.org/drawingml/2006/main" noGrp="1"/>
          </p:cNvSpPr>
          <p:nvPr/>
        </p:nvSpPr>
        <p:spPr>
          <a:xfrm xmlns:a="http://schemas.openxmlformats.org/drawingml/2006/main">
            <a:off x="1047750" y="65722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BD9479"/>
                </a:solidFill>
                <a:latin typeface="Poppins Bold"/>
                <a:ea typeface="Poppins Bold"/>
                <a:cs typeface="Poppins Bold"/>
              </a:defRPr>
            </a:pPr>
            <a:r>
              <a:rPr sz="1725" b="1">
                <a:solidFill>
                  <a:srgbClr val="BD9479"/>
                </a:solidFill>
                <a:latin typeface="Poppins Bold"/>
                <a:ea typeface="Poppins Bold"/>
                <a:cs typeface="Poppins Bold"/>
              </a:rPr>
              <a:t>COVERAGE</a:t>
            </a:r>
          </a:p>
        </p:txBody>
      </p:sp>
      <p:sp>
        <p:nvSpPr>
          <p:cNvPr id="18" name="">
            <a:extLst xmlns:a="http://schemas.openxmlformats.org/drawingml/2006/main">
              <a:ext uri="{FF2B5EF4-FFF2-40B4-BE49-F238E27FC236}">
                <a16:creationId xmlns:a16="http://schemas.microsoft.com/office/drawing/2014/main" id="{40D91266-87C6-4F0A-8269-7858DCDB9CEC}"/>
              </a:ext>
            </a:extLst>
          </p:cNvPr>
          <p:cNvSpPr>
            <a:spLocks xmlns:a="http://schemas.openxmlformats.org/drawingml/2006/main" noGrp="1"/>
          </p:cNvSpPr>
          <p:nvPr/>
        </p:nvSpPr>
        <p:spPr>
          <a:xfrm xmlns:a="http://schemas.openxmlformats.org/drawingml/2006/main">
            <a:off x="4000500" y="655320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Identify any additional activity, meeting or matter requiring a proposal or semester report.</a:t>
            </a:r>
          </a:p>
        </p:txBody>
      </p:sp>
      <p:sp>
        <p:nvSpPr>
          <p:cNvPr id="19" name="">
            <a:extLst xmlns:a="http://schemas.openxmlformats.org/drawingml/2006/main">
              <a:ext uri="{FF2B5EF4-FFF2-40B4-BE49-F238E27FC236}">
                <a16:creationId xmlns:a16="http://schemas.microsoft.com/office/drawing/2014/main" id="{C74C8102-9FD6-4125-9269-27D635756502}"/>
              </a:ext>
            </a:extLst>
          </p:cNvPr>
          <p:cNvSpPr>
            <a:spLocks xmlns:a="http://schemas.openxmlformats.org/drawingml/2006/main" noGrp="1"/>
          </p:cNvSpPr>
          <p:nvPr/>
        </p:nvSpPr>
        <p:spPr>
          <a:xfrm xmlns:a="http://schemas.openxmlformats.org/drawingml/2006/main">
            <a:off x="1047750" y="78105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BD9479"/>
                </a:solidFill>
                <a:latin typeface="Poppins Bold"/>
                <a:ea typeface="Poppins Bold"/>
                <a:cs typeface="Poppins Bold"/>
              </a:defRPr>
            </a:pPr>
            <a:r>
              <a:rPr sz="1725" b="1">
                <a:solidFill>
                  <a:srgbClr val="BD9479"/>
                </a:solidFill>
                <a:latin typeface="Poppins Bold"/>
                <a:ea typeface="Poppins Bold"/>
                <a:cs typeface="Poppins Bold"/>
              </a:rPr>
              <a:t>FEEDBACK</a:t>
            </a:r>
          </a:p>
        </p:txBody>
      </p:sp>
      <p:sp>
        <p:nvSpPr>
          <p:cNvPr id="20" name="">
            <a:extLst xmlns:a="http://schemas.openxmlformats.org/drawingml/2006/main">
              <a:ext uri="{FF2B5EF4-FFF2-40B4-BE49-F238E27FC236}">
                <a16:creationId xmlns:a16="http://schemas.microsoft.com/office/drawing/2014/main" id="{2FDA0C72-856C-48B2-A4BD-13806E304AAA}"/>
              </a:ext>
            </a:extLst>
          </p:cNvPr>
          <p:cNvSpPr>
            <a:spLocks xmlns:a="http://schemas.openxmlformats.org/drawingml/2006/main" noGrp="1"/>
          </p:cNvSpPr>
          <p:nvPr/>
        </p:nvSpPr>
        <p:spPr>
          <a:xfrm xmlns:a="http://schemas.openxmlformats.org/drawingml/2006/main">
            <a:off x="4000500" y="779145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00">
                <a:solidFill>
                  <a:srgbClr val="433831"/>
                </a:solidFill>
                <a:latin typeface="Poppins"/>
                <a:ea typeface="Poppins"/>
                <a:cs typeface="Poppins"/>
              </a:defRPr>
            </a:pPr>
            <a:r>
              <a:rPr sz="2100">
                <a:solidFill>
                  <a:srgbClr val="433831"/>
                </a:solidFill>
                <a:latin typeface="Poppins"/>
                <a:ea typeface="Poppins"/>
                <a:cs typeface="Poppins"/>
              </a:rPr>
              <a:t>Invite final suggestions and unresolved departmental concerns.</a:t>
            </a:r>
          </a:p>
        </p:txBody>
      </p:sp>
    </p:spTree>
    <p:extLst>
      <p:ext uri="{BB962C8B-B14F-4D97-AF65-F5344CB8AC3E}">
        <p14:creationId xmlns:p14="http://schemas.microsoft.com/office/powerpoint/2010/main" val="1815747201"/>
      </p:ext>
    </p:extLst>
  </p:cSld>
</p:sld>
</file>

<file path=ppt/slides/slide15.xml><?xml version="1.0" encoding="utf-8"?>
<p:sld xmlns:p="http://schemas.openxmlformats.org/presentationml/2006/main">
  <p:cSld>
    <p:bg>
      <p:bgPr>
        <a:solidFill xmlns:a="http://schemas.openxmlformats.org/drawingml/2006/main">
          <a:srgbClr val="5B4F4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5dbf355a5134ce2"/>
          <a:stretch xmlns:a="http://schemas.openxmlformats.org/drawingml/2006/main"/>
        </p:blipFill>
        <p:spPr>
          <a:xfrm xmlns:a="http://schemas.openxmlformats.org/drawingml/2006/main">
            <a:off x="12192000" y="0"/>
            <a:ext cx="6096000" cy="6096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92fc47393504218"/>
          <a:stretch xmlns:a="http://schemas.openxmlformats.org/drawingml/2006/main"/>
        </p:blipFill>
        <p:spPr>
          <a:xfrm xmlns:a="http://schemas.openxmlformats.org/drawingml/2006/main">
            <a:off x="13239750" y="2667000"/>
            <a:ext cx="3143250"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C699F8A-1549-4564-9F19-DA052DF5A286}"/>
              </a:ext>
            </a:extLst>
          </p:cNvPr>
          <p:cNvSpPr>
            <a:spLocks xmlns:a="http://schemas.openxmlformats.org/drawingml/2006/main" noGrp="1"/>
          </p:cNvSpPr>
          <p:nvPr/>
        </p:nvSpPr>
        <p:spPr>
          <a:xfrm xmlns:a="http://schemas.openxmlformats.org/drawingml/2006/main">
            <a:off x="1143000" y="1381125"/>
            <a:ext cx="7620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175" b="1">
                <a:solidFill>
                  <a:srgbClr val="DDC1A7"/>
                </a:solidFill>
                <a:latin typeface="Poppins Bold"/>
                <a:ea typeface="Poppins Bold"/>
                <a:cs typeface="Poppins Bold"/>
              </a:defRPr>
            </a:pPr>
            <a:r>
              <a:rPr sz="2175" b="1">
                <a:solidFill>
                  <a:srgbClr val="DDC1A7"/>
                </a:solidFill>
                <a:latin typeface="Poppins Bold"/>
                <a:ea typeface="Poppins Bold"/>
                <a:cs typeface="Poppins Bold"/>
              </a:rPr>
              <a:t>BEFORE WE CLOSE</a:t>
            </a:r>
          </a:p>
        </p:txBody>
      </p:sp>
      <p:sp>
        <p:nvSpPr>
          <p:cNvPr id="4" name="">
            <a:extLst xmlns:a="http://schemas.openxmlformats.org/drawingml/2006/main">
              <a:ext uri="{FF2B5EF4-FFF2-40B4-BE49-F238E27FC236}">
                <a16:creationId xmlns:a16="http://schemas.microsoft.com/office/drawing/2014/main" id="{7A69EE2F-21AF-4078-9C1B-482F3737DD21}"/>
              </a:ext>
            </a:extLst>
          </p:cNvPr>
          <p:cNvSpPr>
            <a:spLocks xmlns:a="http://schemas.openxmlformats.org/drawingml/2006/main" noGrp="1"/>
          </p:cNvSpPr>
          <p:nvPr/>
        </p:nvSpPr>
        <p:spPr>
          <a:xfrm xmlns:a="http://schemas.openxmlformats.org/drawingml/2006/main">
            <a:off x="1143000" y="2381250"/>
            <a:ext cx="9429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5025" b="1">
                <a:solidFill>
                  <a:srgbClr val="FFFFFF"/>
                </a:solidFill>
                <a:latin typeface="Poppins Bold"/>
                <a:ea typeface="Poppins Bold"/>
                <a:cs typeface="Poppins Bold"/>
              </a:defRPr>
            </a:pPr>
            <a:r>
              <a:rPr sz="5025" b="1">
                <a:solidFill>
                  <a:srgbClr val="FFFFFF"/>
                </a:solidFill>
                <a:latin typeface="Poppins Bold"/>
                <a:ea typeface="Poppins Bold"/>
                <a:cs typeface="Poppins Bold"/>
              </a:rPr>
              <a:t>Confirm the decision,</a:t>
            </a:r>
          </a:p>
          <a:p xmlns:a="http://schemas.openxmlformats.org/drawingml/2006/main">
            <a:pPr>
              <a:defRPr sz="5025" b="1">
                <a:solidFill>
                  <a:srgbClr val="FFFFFF"/>
                </a:solidFill>
                <a:latin typeface="Poppins Bold"/>
                <a:ea typeface="Poppins Bold"/>
                <a:cs typeface="Poppins Bold"/>
              </a:defRPr>
            </a:pPr>
            <a:r>
              <a:rPr sz="5025" b="1">
                <a:solidFill>
                  <a:srgbClr val="FFFFFF"/>
                </a:solidFill>
                <a:latin typeface="Poppins Bold"/>
                <a:ea typeface="Poppins Bold"/>
                <a:cs typeface="Poppins Bold"/>
              </a:rPr>
              <a:t>owner and due date</a:t>
            </a:r>
          </a:p>
        </p:txBody>
      </p:sp>
      <p:sp>
        <p:nvSpPr>
          <p:cNvPr id="5" name="">
            <a:extLst xmlns:a="http://schemas.openxmlformats.org/drawingml/2006/main">
              <a:ext uri="{FF2B5EF4-FFF2-40B4-BE49-F238E27FC236}">
                <a16:creationId xmlns:a16="http://schemas.microsoft.com/office/drawing/2014/main" id="{4EB35D8B-D053-429D-82D4-103B907B72FF}"/>
              </a:ext>
            </a:extLst>
          </p:cNvPr>
          <p:cNvSpPr>
            <a:spLocks xmlns:a="http://schemas.openxmlformats.org/drawingml/2006/main" noGrp="1"/>
          </p:cNvSpPr>
          <p:nvPr/>
        </p:nvSpPr>
        <p:spPr>
          <a:xfrm xmlns:a="http://schemas.openxmlformats.org/drawingml/2006/main">
            <a:off x="1143000" y="5381625"/>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54000" indent="-127000">
              <a:spcAft>
                <a:spcPts val="1200"/>
              </a:spcAft>
              <a:buChar char="•"/>
              <a:defRPr sz="2175">
                <a:solidFill>
                  <a:srgbClr val="FFFFFF"/>
                </a:solidFill>
                <a:latin typeface="Poppins"/>
                <a:ea typeface="Poppins"/>
                <a:cs typeface="Poppins"/>
              </a:defRPr>
            </a:pPr>
            <a:r>
              <a:rPr sz="2175">
                <a:solidFill>
                  <a:srgbClr val="FFFFFF"/>
                </a:solidFill>
                <a:latin typeface="Poppins"/>
                <a:ea typeface="Poppins"/>
                <a:cs typeface="Poppins"/>
              </a:rPr>
              <a:t>Secretary updates the proposal and report checklist</a:t>
            </a:r>
          </a:p>
          <a:p xmlns:a="http://schemas.openxmlformats.org/drawingml/2006/main">
            <a:pPr marL="254000" indent="-127000">
              <a:spcAft>
                <a:spcPts val="1200"/>
              </a:spcAft>
              <a:buChar char="•"/>
              <a:defRPr sz="2175">
                <a:solidFill>
                  <a:srgbClr val="FFFFFF"/>
                </a:solidFill>
                <a:latin typeface="Poppins"/>
                <a:ea typeface="Poppins"/>
                <a:cs typeface="Poppins"/>
              </a:defRPr>
            </a:pPr>
            <a:r>
              <a:rPr sz="2175">
                <a:solidFill>
                  <a:srgbClr val="FFFFFF"/>
                </a:solidFill>
                <a:latin typeface="Poppins"/>
                <a:ea typeface="Poppins"/>
                <a:cs typeface="Poppins"/>
              </a:rPr>
              <a:t>Departments verify their assigned actions</a:t>
            </a:r>
          </a:p>
          <a:p xmlns:a="http://schemas.openxmlformats.org/drawingml/2006/main">
            <a:pPr marL="254000" indent="-127000">
              <a:spcAft>
                <a:spcPts val="1200"/>
              </a:spcAft>
              <a:buChar char="•"/>
              <a:defRPr sz="2175">
                <a:solidFill>
                  <a:srgbClr val="FFFFFF"/>
                </a:solidFill>
                <a:latin typeface="Poppins"/>
                <a:ea typeface="Poppins"/>
                <a:cs typeface="Poppins"/>
              </a:defRPr>
            </a:pPr>
            <a:r>
              <a:rPr sz="2175">
                <a:solidFill>
                  <a:srgbClr val="FFFFFF"/>
                </a:solidFill>
                <a:latin typeface="Poppins"/>
                <a:ea typeface="Poppins"/>
                <a:cs typeface="Poppins"/>
              </a:rPr>
              <a:t>Any approval dependency is recorded explicitly</a:t>
            </a:r>
          </a:p>
          <a:p xmlns:a="http://schemas.openxmlformats.org/drawingml/2006/main">
            <a:pPr marL="254000" indent="-127000">
              <a:spcAft>
                <a:spcPts val="1200"/>
              </a:spcAft>
              <a:buChar char="•"/>
              <a:defRPr sz="2175">
                <a:solidFill>
                  <a:srgbClr val="FFFFFF"/>
                </a:solidFill>
                <a:latin typeface="Poppins"/>
                <a:ea typeface="Poppins"/>
                <a:cs typeface="Poppins"/>
              </a:defRPr>
            </a:pPr>
            <a:r>
              <a:rPr sz="2175">
                <a:solidFill>
                  <a:srgbClr val="FFFFFF"/>
                </a:solidFill>
                <a:latin typeface="Poppins"/>
                <a:ea typeface="Poppins"/>
                <a:cs typeface="Poppins"/>
              </a:rPr>
              <a:t>Meeting minutes capture the final decisions</a:t>
            </a:r>
          </a:p>
        </p:txBody>
      </p:sp>
      <p:sp>
        <p:nvSpPr>
          <p:cNvPr id="6" name="">
            <a:extLst xmlns:a="http://schemas.openxmlformats.org/drawingml/2006/main">
              <a:ext uri="{FF2B5EF4-FFF2-40B4-BE49-F238E27FC236}">
                <a16:creationId xmlns:a16="http://schemas.microsoft.com/office/drawing/2014/main" id="{FF768875-C8C0-4C7F-A71E-D71433B5CAF4}"/>
              </a:ext>
            </a:extLst>
          </p:cNvPr>
          <p:cNvSpPr>
            <a:spLocks xmlns:a="http://schemas.openxmlformats.org/drawingml/2006/main" noGrp="1"/>
          </p:cNvSpPr>
          <p:nvPr/>
        </p:nvSpPr>
        <p:spPr>
          <a:xfrm xmlns:a="http://schemas.openxmlformats.org/drawingml/2006/main">
            <a:off x="1143000" y="935355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425">
                <a:solidFill>
                  <a:srgbClr val="DDC1A7"/>
                </a:solidFill>
                <a:latin typeface="Poppins"/>
                <a:ea typeface="Poppins"/>
                <a:cs typeface="Poppins"/>
              </a:defRPr>
            </a:pPr>
            <a:r>
              <a:rPr sz="1425">
                <a:solidFill>
                  <a:srgbClr val="DDC1A7"/>
                </a:solidFill>
                <a:latin typeface="Poppins"/>
                <a:ea typeface="Poppins"/>
                <a:cs typeface="Poppins"/>
              </a:rPr>
              <a:t>UTAR SL YOGA CLUB, SUNGAI LONG CAMPUS</a:t>
            </a:r>
          </a:p>
        </p:txBody>
      </p:sp>
    </p:spTree>
    <p:extLst>
      <p:ext uri="{BB962C8B-B14F-4D97-AF65-F5344CB8AC3E}">
        <p14:creationId xmlns:p14="http://schemas.microsoft.com/office/powerpoint/2010/main" val="730101005"/>
      </p:ext>
    </p:extLst>
  </p:cSld>
</p:sld>
</file>

<file path=ppt/theme/theme1.xml><?xml version="1.0" encoding="utf-8"?>
<a:theme xmlns:a="http://schemas.openxmlformats.org/drawingml/2006/main" name="ChatGPT">
  <a:themeElements>
    <a:clrScheme name="UTAR Yoga Warm Neutral">
      <a:dk1>
        <a:srgbClr val="000000"/>
      </a:dk1>
      <a:lt1>
        <a:srgbClr val="FFFFFF"/>
      </a:lt1>
      <a:dk2>
        <a:srgbClr val="5B4F47"/>
      </a:dk2>
      <a:lt2>
        <a:srgbClr val="F4EBE4"/>
      </a:lt2>
      <a:accent1>
        <a:srgbClr val="5B4F47"/>
      </a:accent1>
      <a:accent2>
        <a:srgbClr val="BD9479"/>
      </a:accent2>
      <a:accent3>
        <a:srgbClr val="DDC1A7"/>
      </a:accent3>
      <a:accent4>
        <a:srgbClr val="D99D48"/>
      </a:accent4>
      <a:accent5>
        <a:srgbClr val="745E4D"/>
      </a:accent5>
      <a:accent6>
        <a:srgbClr val="F4EBE4"/>
      </a:accent6>
      <a:hlink>
        <a:srgbClr val="745E4D"/>
      </a:hlink>
      <a:folHlink>
        <a:srgbClr val="BD9479"/>
      </a:folHlink>
    </a:clrScheme>
    <a:fontScheme name="Office">
      <a:majorFont>
        <a:latin typeface="Calibri Light"/>
        <a:ea typeface="Calibri Light"/>
        <a:cs typeface="Calibri Light"/>
      </a:majorFont>
      <a:minorFont>
        <a:latin typeface="Calibri"/>
        <a:ea typeface="Calibri"/>
        <a:cs typeface="Calibri"/>
      </a:minorFont>
    </a:fontScheme>
    <a:fmtScheme name="UTAR Yoga Warm Neutr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2026-09-11T10:10:16.2680000Z</dcterms:created>
  <dcterms:modified xsi:type="dcterms:W3CDTF">2026-09-11T10:10:16.2680000Z</dcterms:modified>
</coreProperties>
</file>